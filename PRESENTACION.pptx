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E53E3E">
              <a:alpha val="15000"/>
            </a:srgbClr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4114800"/>
            <a:ext cx="4572000" cy="4572000"/>
          </a:xfrm>
          <a:prstGeom prst="ellipse">
            <a:avLst/>
          </a:prstGeom>
          <a:solidFill>
            <a:srgbClr val="2B6CB0">
              <a:alpha val="20000"/>
            </a:srgbClr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Efectos Adversos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Computación Evolutiva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532120" y="3931920"/>
            <a:ext cx="1097280" cy="36576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1148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Algoritmo Genético optimiza los pesos de una red neuronal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predecir efectos adversos de fármacos sin retropropagación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Alzugaray Agustín Ezequiel  ·  Lautaro Cabrera Tamalet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de Computación Evolutiva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25880" y="2743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del problema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11247120" cy="1188720"/>
          </a:xfrm>
          <a:prstGeom prst="roundRect">
            <a:avLst>
              <a:gd name="adj" fmla="val 7692"/>
            </a:avLst>
          </a:prstGeom>
          <a:solidFill>
            <a:srgbClr val="FFF5F5"/>
          </a:solidFill>
          <a:ln w="12700">
            <a:solidFill>
              <a:srgbClr val="FFF5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7160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 un paciente que toma un fármaco, ¿qué efectos adversos va a sufrir?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5577840" cy="3657600"/>
          </a:xfrm>
          <a:prstGeom prst="roundRect">
            <a:avLst>
              <a:gd name="adj" fmla="val 2500"/>
            </a:avLst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8803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del problema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 efectos (MedDRA)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Desbalanceado (~2 % positivos)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clínico ruidoso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126480" y="2743200"/>
            <a:ext cx="5577840" cy="3657600"/>
          </a:xfrm>
          <a:prstGeom prst="roundRect">
            <a:avLst>
              <a:gd name="adj" fmla="val 2500"/>
            </a:avLst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28803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 difícil y por qué importa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347472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engaña → usamos F1-macro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Etiquetas con frecuencias dispares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Farmacovigilancia preventiva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del paciente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25880" y="2743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— qué usamos y para qué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5577840" cy="2377440"/>
          </a:xfrm>
          <a:prstGeom prst="roundRect">
            <a:avLst>
              <a:gd name="adj" fmla="val 3846"/>
            </a:avLst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173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FAERS (FDA)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 + test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</a:rPr>
              <a:t>Reportes reales de pacientes con efectos adversos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</a:rPr>
              <a:t>~55 000 casos · 5 trimestres (2025Q1 → 2026Q1)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</a:rPr>
              <a:t>4 archivos por trimestre: DEMO + DRUG + REAC + INDI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280160"/>
            <a:ext cx="5577840" cy="2377440"/>
          </a:xfrm>
          <a:prstGeom prst="roundRect">
            <a:avLst>
              <a:gd name="adj" fmla="val 3846"/>
            </a:avLst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14173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SIDER 4.1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0" y="18745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externa (después del entrenamiento)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2240280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</a:rPr>
              <a:t>Base curada por farmacólogos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</a:rPr>
              <a:t>Para cada fármaco, sus efectos adversos conocidos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</a:rPr>
              <a:t>Independiente de FAERS — sirve como prueba externa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11247120" cy="2651760"/>
          </a:xfrm>
          <a:prstGeom prst="roundRect">
            <a:avLst>
              <a:gd name="adj" fmla="val 3448"/>
            </a:avLst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977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FAERS sacamos X e Y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31520" y="4526280"/>
            <a:ext cx="53035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9050">
            <a:solidFill>
              <a:srgbClr val="2B6C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617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entrada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498348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del paciente: fármaco · indicación · otras medicaciones · edad · sexo · peso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26480" y="4526280"/>
            <a:ext cx="55778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9050">
            <a:solidFill>
              <a:srgbClr val="E53E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46177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lo que queremos predecir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09360" y="498348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binario de 98 columnas: ¿tuvo Nausea? ¿Anxiety? ¿Headache? ...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25880" y="2743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— cómo funciona el sistema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3444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25400">
            <a:solidFill>
              <a:srgbClr val="2B6C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394460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94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2801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FAERS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1618488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fila por paciente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19272" y="2016252"/>
            <a:ext cx="128016" cy="109728"/>
          </a:xfrm>
          <a:prstGeom prst="downArrow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130552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25400">
            <a:solidFill>
              <a:srgbClr val="2B6CB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290572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2905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217627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Featurizer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251460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X de 228 números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19272" y="2912364"/>
            <a:ext cx="128016" cy="109728"/>
          </a:xfrm>
          <a:prstGeom prst="downArrow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026664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25400">
            <a:solidFill>
              <a:srgbClr val="1A2B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3186684"/>
            <a:ext cx="457200" cy="45720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1866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25880" y="3072384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neuronal 228 → 24 → 98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25880" y="3410712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predice Ŷ (probabilidades)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19272" y="3808476"/>
            <a:ext cx="128016" cy="109728"/>
          </a:xfrm>
          <a:prstGeom prst="downArrow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922776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25400">
            <a:solidFill>
              <a:srgbClr val="D69E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082796"/>
            <a:ext cx="457200" cy="457200"/>
          </a:xfrm>
          <a:prstGeom prst="ellipse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0827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25880" y="396849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= F1-macro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25880" y="4306824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Ŷ con Y real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19272" y="4704588"/>
            <a:ext cx="128016" cy="109728"/>
          </a:xfrm>
          <a:prstGeom prst="downArrow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4818888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25400">
            <a:solidFill>
              <a:srgbClr val="E53E3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" y="4978908"/>
            <a:ext cx="457200" cy="457200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9789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325880" y="486460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Genético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325880" y="5202936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 los 7 946 pesos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319272" y="5600700"/>
            <a:ext cx="128016" cy="109728"/>
          </a:xfrm>
          <a:prstGeom prst="downArrow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" y="571500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25400">
            <a:solidFill>
              <a:srgbClr val="38A1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875020"/>
            <a:ext cx="457200" cy="457200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58750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325880" y="57607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con SIDER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325880" y="6099048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externa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1234440"/>
            <a:ext cx="5212080" cy="1554480"/>
          </a:xfrm>
          <a:prstGeom prst="roundRect">
            <a:avLst>
              <a:gd name="adj" fmla="val 5882"/>
            </a:avLst>
          </a:prstGeom>
          <a:solidFill>
            <a:srgbClr val="FFF5F5"/>
          </a:solidFill>
          <a:ln w="12700">
            <a:solidFill>
              <a:srgbClr val="FFF5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675120" y="1325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GENOTIPO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675120" y="16459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real de 7 946 pesos (no binario, Módulo 3)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675120" y="20574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[W1 (228×24) | b1 (24) | W2 (24×98) | b2 (98)]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492240" y="2971800"/>
            <a:ext cx="5212080" cy="1554480"/>
          </a:xfrm>
          <a:prstGeom prst="roundRect">
            <a:avLst>
              <a:gd name="adj" fmla="val 5882"/>
            </a:avLst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675120" y="3063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FENOTIPO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675120" y="33832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neuronal de 1 capa oculta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675120" y="37947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228  →  ReLU(24)  →  sigmoide(98)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492240" y="5029200"/>
            <a:ext cx="5212080" cy="1554480"/>
          </a:xfrm>
          <a:prstGeom prst="roundRect">
            <a:avLst>
              <a:gd name="adj" fmla="val 5882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75120" y="5120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 clave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675120" y="544068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Cromosoma = pesos de la red.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 en vez de retropropagación.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25880" y="2743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Representación — genotipo y fenotipo (Módulo 3)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decisión más importante del AG: cómo codificar el problema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669280" cy="5029200"/>
          </a:xfrm>
          <a:prstGeom prst="roundRect">
            <a:avLst>
              <a:gd name="adj" fmla="val 1818"/>
            </a:avLst>
          </a:prstGeom>
          <a:solidFill>
            <a:srgbClr val="FFF5F5"/>
          </a:solidFill>
          <a:ln w="12700">
            <a:solidFill>
              <a:srgbClr val="FFF5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GENOTIPO — representación real no binaria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W1 (228×24)  |  b1 (24)  |  W2 (24×98)  |  b2 (98) 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7 946 números reales por individuo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5303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no binario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Localidad: gen ≡ un peso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Cruce aritmético + mutación gaussiana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09360" y="1463040"/>
            <a:ext cx="5394960" cy="5029200"/>
          </a:xfrm>
          <a:prstGeom prst="roundRect">
            <a:avLst>
              <a:gd name="adj" fmla="val 1818"/>
            </a:avLst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FENOTIPO — red neuronal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83680" y="219456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B6C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228 features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46720" y="2560320"/>
            <a:ext cx="228600" cy="182880"/>
          </a:xfrm>
          <a:prstGeom prst="rightArrow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75320" y="219456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A2B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7532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neuronas ReLU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738360" y="2560320"/>
            <a:ext cx="228600" cy="182880"/>
          </a:xfrm>
          <a:prstGeom prst="rightArrow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66960" y="219456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53E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66960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966960" y="2651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 sigmoides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92240" y="35661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capa oculta ReLU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 salidas sigmoides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set_genome(cromosoma) → W1, b1, W2, b2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25880" y="2743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evolutivos (Módulos 2 y 4)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el AG transforma una generación en la siguiente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577840" cy="2468880"/>
          </a:xfrm>
          <a:prstGeom prst="roundRect">
            <a:avLst>
              <a:gd name="adj" fmla="val 3704"/>
            </a:avLst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002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por RANK lineal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0" y="16002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6C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1.7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5212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por posición en el ranking. Presión selectiva constante.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463040"/>
            <a:ext cx="5577840" cy="2468880"/>
          </a:xfrm>
          <a:prstGeom prst="roundRect">
            <a:avLst>
              <a:gd name="adj" fmla="val 3704"/>
            </a:avLst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16002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Cruce uniforme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424160" y="16002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20116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A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p_crossover = 0.9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2423160"/>
            <a:ext cx="5212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gen se hereda de A o B con prob. 0.5. Recombina building blocks.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069080"/>
            <a:ext cx="5577840" cy="2468880"/>
          </a:xfrm>
          <a:prstGeom prst="roundRect">
            <a:avLst>
              <a:gd name="adj" fmla="val 3704"/>
            </a:avLst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4206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Mutación gaussiana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72000" y="4206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6177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9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p_mutation = 0.05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5029200"/>
            <a:ext cx="5212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Ruido N(0, σ) sobre cada gen. Reinyecta variación.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4069080"/>
            <a:ext cx="5577840" cy="2468880"/>
          </a:xfrm>
          <a:prstGeom prst="roundRect">
            <a:avLst>
              <a:gd name="adj" fmla="val 3704"/>
            </a:avLst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92240" y="4206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Elitismo + adaptativo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0424160" y="4206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2/5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46177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3E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elitism = 2, immigrants = 8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92240" y="5029200"/>
            <a:ext cx="5212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2 mejores pasan intactos. Si diversidad &lt; 0.09: inmigrantes + σ ×3.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25880" y="2743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evolucionó el fitness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pic>
        <p:nvPicPr>
          <p:cNvPr id="5" name="Image 0" descr="C:\Users\alzug\OneDrive\Documentos\GitHub\AgusProyecto\farmApp-TCE\outputs\figures\ga_converge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234440"/>
            <a:ext cx="11430000" cy="4846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6172200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6172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Fitness  ·  Diversidad genotípica  ·  Presión selectiva     —     3 métricas independientes (Módulos 4, 5, 6)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25880" y="2743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parada — ¿cuántas generaciones bastan?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Corrimos 3 experimentos con 120, 300 y 500 generaciones para encontrar el punto óptimo de parada.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377440"/>
                <a:gridCol w="2194560"/>
                <a:gridCol w="219456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Generaciones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Fitness final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 CPU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Tasa mejora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0.0011/gen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0.1091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0.00018/gen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12.7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0.00001/gen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657600"/>
            <a:ext cx="5577840" cy="2743200"/>
          </a:xfrm>
          <a:prstGeom prst="roundRect">
            <a:avLst>
              <a:gd name="adj" fmla="val 3333"/>
            </a:avLst>
          </a:prstGeom>
          <a:solidFill>
            <a:srgbClr val="F0FFF4"/>
          </a:solidFill>
          <a:ln w="12700">
            <a:solidFill>
              <a:srgbClr val="F0FFF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37947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Hallazgo 1: rendimiento marginal decreciente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4251960"/>
            <a:ext cx="5212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202C"/>
                </a:solidFill>
              </a:rPr>
              <a:t>La tasa de mejora cae 110× entre el inicio y el final.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202C"/>
                </a:solidFill>
              </a:rPr>
              <a:t> 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</a:rPr>
              <a:t>120 → 300 gen: +0.014 (mejora útil).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</a:rPr>
              <a:t>300 → 500 gen: solo +0.002 (casi cero).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26480" y="3657600"/>
            <a:ext cx="5577840" cy="2743200"/>
          </a:xfrm>
          <a:prstGeom prst="roundRect">
            <a:avLst>
              <a:gd name="adj" fmla="val 3333"/>
            </a:avLst>
          </a:prstGeom>
          <a:solidFill>
            <a:srgbClr val="FFF5F5"/>
          </a:solidFill>
          <a:ln w="12700">
            <a:solidFill>
              <a:srgbClr val="FFF5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09360" y="37947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Hallazgo 2: overfitting al subset de fitness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309360" y="4251960"/>
            <a:ext cx="5212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</a:rPr>
              <a:t>En 500 gen, el fitness sigue subiendo (0.164 → 0.166)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202C"/>
                </a:solidFill>
              </a:rPr>
              <a:t>pero el F1 de test BAJA (0.1091 → 0.1089).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202C"/>
                </a:solidFill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202C"/>
                </a:solidFill>
              </a:rPr>
              <a:t>El AG empieza a sobreajustarse al subset de fitness.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202C"/>
                </a:solidFill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38A169"/>
                </a:solidFill>
              </a:rPr>
              <a:t>300 generaciones = mejor F1 con menor tiempo.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25880" y="2743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del AG en el sistema (ablación)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pic>
        <p:nvPicPr>
          <p:cNvPr id="5" name="Image 0" descr="C:\Users\alzug\OneDrive\Documentos\GitHub\AgusProyecto\farmApp-TCE\outputs\figures\abl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88720"/>
            <a:ext cx="7772400" cy="4937760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21040" y="1737360"/>
          <a:ext cx="3474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822960"/>
                <a:gridCol w="8229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Fitness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search (sin AG)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mutación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cruce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elitismo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AG COMPLETO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6263640"/>
            <a:ext cx="11247120" cy="457200"/>
          </a:xfrm>
          <a:prstGeom prst="roundRect">
            <a:avLst>
              <a:gd name="adj" fmla="val 16000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40080" y="62636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search → AG completo: F1 +27 %.  ·  Cada operador aporta.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25880" y="2743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Experimento — probabilidad de mutación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pic>
        <p:nvPicPr>
          <p:cNvPr id="5" name="Image 0" descr="C:\Users\alzug\OneDrive\Documentos\GitHub\AgusProyecto\farmApp-TCE\outputs\figures\exp_mut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88720"/>
            <a:ext cx="7772400" cy="4937760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21040" y="1737360"/>
          <a:ext cx="34747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097280"/>
                <a:gridCol w="10972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p_mutation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Fitness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 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6263640"/>
            <a:ext cx="11247120" cy="457200"/>
          </a:xfrm>
          <a:prstGeom prst="roundRect">
            <a:avLst>
              <a:gd name="adj" fmla="val 16000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40080" y="62636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 invertida — óptimo en p_mut ≈ 0.05–0.10.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9b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25880" y="2743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Experimento — probabilidad de cruce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pic>
        <p:nvPicPr>
          <p:cNvPr id="5" name="Image 0" descr="C:\Users\alzug\OneDrive\Documentos\GitHub\AgusProyecto\farmApp-TCE\outputs\figures\exp_crossover_pro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88720"/>
            <a:ext cx="7772400" cy="493776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21040" y="1737360"/>
          <a:ext cx="34747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097280"/>
                <a:gridCol w="10972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p_crossover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Fitness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 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6263640"/>
            <a:ext cx="11247120" cy="457200"/>
          </a:xfrm>
          <a:prstGeom prst="roundRect">
            <a:avLst>
              <a:gd name="adj" fmla="val 16000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40080" y="62636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Monótono creciente — cuanta más recombinación, mejor.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9c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25880" y="2743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Experimento — operador de cruce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pic>
        <p:nvPicPr>
          <p:cNvPr id="5" name="Image 0" descr="C:\Users\alzug\OneDrive\Documentos\GitHub\AgusProyecto\farmApp-TCE\outputs\figures\exp_crossover_ki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88720"/>
            <a:ext cx="7772400" cy="4937760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21040" y="1737360"/>
          <a:ext cx="34747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097280"/>
                <a:gridCol w="10972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Operador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Fitness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 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one_point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arithmetic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6263640"/>
            <a:ext cx="11247120" cy="457200"/>
          </a:xfrm>
          <a:prstGeom prst="roundRect">
            <a:avLst>
              <a:gd name="adj" fmla="val 16000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40080" y="62636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Uniforme gana en alta dimensión (7 946 dims).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25880" y="2743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Multi-objetivo: NSGA-II (Módulo 7)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pic>
        <p:nvPicPr>
          <p:cNvPr id="5" name="Image 0" descr="C:\Users\alzug\OneDrive\Documentos\GitHub\AgusProyecto\farmApp-TCE\outputs\figures\nsga2_pareto_fro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234440"/>
            <a:ext cx="11430000" cy="4846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6172200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6172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Precisión vs recall  ·  frente de Pareto  ·  non-dominated sort + crowding distance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25880" y="2743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— explicabilidad del individuo (Módulo 9)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pic>
        <p:nvPicPr>
          <p:cNvPr id="5" name="Image 0" descr="C:\Users\alzug\OneDrive\Documentos\GitHub\AgusProyecto\farmApp-TCE\outputs\figures\ga_feature_import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234440"/>
            <a:ext cx="11430000" cy="4846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6172200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6172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Importancia por feature = | W1 | · | W2 |     —     el individuo evolucionado no es caja negra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25880" y="2743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finales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E53E3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80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F1-macro test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0.109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94360" y="2423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evolucionado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18872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2B6CB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1280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macro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0" y="16002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0.125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474720" y="2423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individuo ganador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18872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38A16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55080" y="1280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vs SIDER 4.1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080" y="16002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0.32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355080" y="2423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externa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98280" y="118872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D69E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35440" y="1280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/ generaciones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235440" y="16002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7.5 min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9235440" y="2423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generaciones en CPU</a:t>
            </a:r>
            <a:endParaRPr lang="en-US" sz="1000" dirty="0"/>
          </a:p>
        </p:txBody>
      </p:sp>
      <p:pic>
        <p:nvPicPr>
          <p:cNvPr id="21" name="Image 0" descr="C:\Users\alzug\OneDrive\Documentos\GitHub\AgusProyecto\farmApp-TCE\outputs\figures\sider_valid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2880360"/>
            <a:ext cx="11430000" cy="320040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457200" y="6172200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" y="6172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 externa con SIDER: el AG aprendió relaciones documentadas por farmacólogos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828800"/>
            <a:ext cx="5486400" cy="5486400"/>
          </a:xfrm>
          <a:prstGeom prst="ellipse">
            <a:avLst/>
          </a:prstGeom>
          <a:solidFill>
            <a:srgbClr val="E53E3E">
              <a:alpha val="12000"/>
            </a:srgbClr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de los 9 módulos del programa cubiertos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mismo proyecto coherente y verificable</a:t>
            </a:r>
            <a:endParaRPr lang="en-US" sz="1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6858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3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se cubre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3E3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— Algoritmos Genéticos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Bucle completo SGA + elitismo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— Genotipos no binarios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Genotipo real (pesos) + binario (selección de features)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— Selección, fitness, constraints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Torneo, F1-macro con umbral por etiqueta, exclusión de no-ADRs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— Parameter tuning and control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determinístico + inmigrantes adaptativos + sweep de hiperparámetros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— Performance metrics (single-obj)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Best/mean fitness, diversidad, presión de selección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— Multi-objective EAs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NSGA-II para precisión vs recall (frente de Pareto)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— XAI + EC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Importancia de features derivada del individuo evolucionado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349240"/>
            <a:ext cx="10972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54406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Demostramos que un Algoritmo Genético puede entrenar un clasificador real multi-label sin gradiente, validado contra una base externa, con resultados reproducibles.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65836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farmApp-TCE — Computación Evolutiva</dc:title>
  <dc:subject>PptxGenJS Presentation</dc:subject>
  <dc:creator>Alzugaray · Cabrera Tamalet</dc:creator>
  <cp:lastModifiedBy>Alzugaray · Cabrera Tamalet</cp:lastModifiedBy>
  <cp:revision>1</cp:revision>
  <dcterms:created xsi:type="dcterms:W3CDTF">2026-07-02T01:09:50Z</dcterms:created>
  <dcterms:modified xsi:type="dcterms:W3CDTF">2026-07-02T01:09:50Z</dcterms:modified>
</cp:coreProperties>
</file>