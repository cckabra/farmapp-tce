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696E471-3781-4234-9DA2-4196948D80A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EA68B1-5310-4644-AFFD-2F9D3FE397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671E83-1F15-4589-8545-1C08AEC285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139280-3769-4F26-9DA3-4BD338C83A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D2DE7A-B7EC-4F56-88E3-B5BDC22B0C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74FFC2-A56B-4360-9FF2-D6D250F388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067200-FFDA-4867-9D8B-9103BDDCCC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D1C4DE-8741-4D16-AF46-FF3E432B57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D4E559-F3C3-420C-9432-2E19BDFD9D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65DAC1-D8A8-4456-96BB-BA54F70251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BADFD1-7238-411D-9B0D-30E47FCEF0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FD6E81-D638-4F0D-90C1-FDF6794CD9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80536A-3677-47BB-948A-10181C587C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46FFF2-E19F-41C4-B9F7-62AFA833D3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74D4DE-4C20-42FF-B0DD-7AE9927943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954AF9-A689-44FA-9D57-2C95F977D7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216DFC-AB2D-424D-B68D-F30024D793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E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1828800" y="-1828800"/>
            <a:ext cx="4571640" cy="4571640"/>
          </a:xfrm>
          <a:prstGeom prst="ellipse">
            <a:avLst/>
          </a:prstGeom>
          <a:solidFill>
            <a:srgbClr val="E53E3E">
              <a:alpha val="15000"/>
            </a:srgbClr>
          </a:solidFill>
          <a:ln w="12700">
            <a:solidFill>
              <a:srgbClr val="E53E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4571640" cy="4571640"/>
          </a:xfrm>
          <a:prstGeom prst="ellipse">
            <a:avLst/>
          </a:prstGeom>
          <a:solidFill>
            <a:srgbClr val="2B6CB0">
              <a:alpha val="20000"/>
            </a:srgbClr>
          </a:solidFill>
          <a:ln w="12700">
            <a:solidFill>
              <a:srgbClr val="2B6C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914400" y="2011680"/>
            <a:ext cx="10332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Predicción de Efectos Adversos</a:t>
            </a:r>
            <a:endParaRPr lang="es-E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914400" y="3017520"/>
            <a:ext cx="10332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con Computación Evolutiva</a:t>
            </a:r>
            <a:endParaRPr lang="es-E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5532120" y="3931920"/>
            <a:ext cx="1096920" cy="3636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4114800"/>
            <a:ext cx="10332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Un Algoritmo Genético optimiza los pesos de una red neuronal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para predecir efectos adversos de fármacos sin retropropagación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566928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Alzugaray Agustín Ezequiel  ·  Lautaro Cabrera Tamalet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612648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Técnicas de Computación Evolutiva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Descripción del problema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3"/>
          <p:cNvSpPr/>
          <p:nvPr/>
        </p:nvSpPr>
        <p:spPr>
          <a:xfrm>
            <a:off x="457200" y="1280160"/>
            <a:ext cx="11246760" cy="1188360"/>
          </a:xfrm>
          <a:prstGeom prst="roundRect">
            <a:avLst>
              <a:gd name="adj" fmla="val 7692"/>
            </a:avLst>
          </a:prstGeom>
          <a:solidFill>
            <a:srgbClr val="FFF5F5"/>
          </a:solidFill>
          <a:ln w="12700">
            <a:solidFill>
              <a:srgbClr val="FFF5F5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640080" y="1371600"/>
            <a:ext cx="108810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i="1" u="none" strike="noStrike">
                <a:solidFill>
                  <a:srgbClr val="1A2B4A"/>
                </a:solidFill>
                <a:effectLst/>
                <a:uFillTx/>
                <a:latin typeface="Cambria"/>
                <a:ea typeface="Cambria"/>
              </a:rPr>
              <a:t>Dado un paciente que toma un fármaco, ¿qué efectos adversos va a sufrir?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5"/>
          <p:cNvSpPr/>
          <p:nvPr/>
        </p:nvSpPr>
        <p:spPr>
          <a:xfrm>
            <a:off x="457200" y="2743200"/>
            <a:ext cx="5577480" cy="3657240"/>
          </a:xfrm>
          <a:prstGeom prst="roundRect">
            <a:avLst>
              <a:gd name="adj" fmla="val 2500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731520" y="288036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Características del problema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7"/>
          <p:cNvSpPr/>
          <p:nvPr/>
        </p:nvSpPr>
        <p:spPr>
          <a:xfrm>
            <a:off x="731520" y="3383280"/>
            <a:ext cx="51202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Multi-label: un paciente puede tener varios efectos a la vez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98 efectos posibles del vocabulario MedDRA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Severamente desbalanceado: solo ~2 % de cada efecto es positivo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Texto clínico ruidoso y heterogéneo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8"/>
          <p:cNvSpPr/>
          <p:nvPr/>
        </p:nvSpPr>
        <p:spPr>
          <a:xfrm>
            <a:off x="6126480" y="2743200"/>
            <a:ext cx="5577480" cy="3657240"/>
          </a:xfrm>
          <a:prstGeom prst="roundRect">
            <a:avLst>
              <a:gd name="adj" fmla="val 2500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9"/>
          <p:cNvSpPr/>
          <p:nvPr/>
        </p:nvSpPr>
        <p:spPr>
          <a:xfrm>
            <a:off x="6400800" y="2880360"/>
            <a:ext cx="5211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Por qué es difícil y por qué importa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0"/>
          <p:cNvSpPr/>
          <p:nvPr/>
        </p:nvSpPr>
        <p:spPr>
          <a:xfrm>
            <a:off x="6400800" y="3383280"/>
            <a:ext cx="52117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Un modelo que predice todo "no" tiene 98 % accuracy pero F1 ≈ 0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98 etiquetas con frecuencias muy distintas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Detectar efectos adversos antes de que ocurran ayuda a farmacovigilancia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Mejora la seguridad del paciente (Metformina, Adalimumab, etc.)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Datasets — qué usamos y para qué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3"/>
          <p:cNvSpPr/>
          <p:nvPr/>
        </p:nvSpPr>
        <p:spPr>
          <a:xfrm>
            <a:off x="457200" y="1280160"/>
            <a:ext cx="5577480" cy="2377080"/>
          </a:xfrm>
          <a:prstGeom prst="roundRect">
            <a:avLst>
              <a:gd name="adj" fmla="val 3846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4"/>
          <p:cNvSpPr/>
          <p:nvPr/>
        </p:nvSpPr>
        <p:spPr>
          <a:xfrm>
            <a:off x="731520" y="141732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FAERS (FDA)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5"/>
          <p:cNvSpPr/>
          <p:nvPr/>
        </p:nvSpPr>
        <p:spPr>
          <a:xfrm>
            <a:off x="731520" y="187452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Entrenamiento + test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6"/>
          <p:cNvSpPr/>
          <p:nvPr/>
        </p:nvSpPr>
        <p:spPr>
          <a:xfrm>
            <a:off x="731520" y="2240280"/>
            <a:ext cx="51202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Reportes reales de pacientes con efectos adversos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~55 000 casos · 5 trimestres (2025Q1 → 2026Q1)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4 archivos por trimestre: DEMO + DRUG + REAC + INDI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7"/>
          <p:cNvSpPr/>
          <p:nvPr/>
        </p:nvSpPr>
        <p:spPr>
          <a:xfrm>
            <a:off x="6126480" y="1280160"/>
            <a:ext cx="5577480" cy="2377080"/>
          </a:xfrm>
          <a:prstGeom prst="roundRect">
            <a:avLst>
              <a:gd name="adj" fmla="val 3846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8"/>
          <p:cNvSpPr/>
          <p:nvPr/>
        </p:nvSpPr>
        <p:spPr>
          <a:xfrm>
            <a:off x="6400800" y="1417320"/>
            <a:ext cx="5211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SIDER 4.1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9"/>
          <p:cNvSpPr/>
          <p:nvPr/>
        </p:nvSpPr>
        <p:spPr>
          <a:xfrm>
            <a:off x="6400800" y="187452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Validación externa (después del entrenamiento)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0"/>
          <p:cNvSpPr/>
          <p:nvPr/>
        </p:nvSpPr>
        <p:spPr>
          <a:xfrm>
            <a:off x="6400800" y="2240280"/>
            <a:ext cx="52117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Base curada por farmacólogos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Para cada fármaco, sus efectos adversos conocidos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Independiente de FAERS — sirve como prueba externa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1"/>
          <p:cNvSpPr/>
          <p:nvPr/>
        </p:nvSpPr>
        <p:spPr>
          <a:xfrm>
            <a:off x="457200" y="3840480"/>
            <a:ext cx="11246760" cy="2651400"/>
          </a:xfrm>
          <a:prstGeom prst="roundRect">
            <a:avLst>
              <a:gd name="adj" fmla="val 3448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731520" y="397764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De FAERS sacamos X e Y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3"/>
          <p:cNvSpPr/>
          <p:nvPr/>
        </p:nvSpPr>
        <p:spPr>
          <a:xfrm>
            <a:off x="731520" y="4526280"/>
            <a:ext cx="5303160" cy="17827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2B6C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4"/>
          <p:cNvSpPr/>
          <p:nvPr/>
        </p:nvSpPr>
        <p:spPr>
          <a:xfrm>
            <a:off x="914400" y="46177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X = entrada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914400" y="4983480"/>
            <a:ext cx="49374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Perfil del paciente: fármaco · indicación · otras medicaciones · edad · sexo · peso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6"/>
          <p:cNvSpPr/>
          <p:nvPr/>
        </p:nvSpPr>
        <p:spPr>
          <a:xfrm>
            <a:off x="6126480" y="4526280"/>
            <a:ext cx="5577480" cy="17827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E53E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7"/>
          <p:cNvSpPr/>
          <p:nvPr/>
        </p:nvSpPr>
        <p:spPr>
          <a:xfrm>
            <a:off x="6309360" y="461772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Y = lo que queremos predecir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8"/>
          <p:cNvSpPr/>
          <p:nvPr/>
        </p:nvSpPr>
        <p:spPr>
          <a:xfrm>
            <a:off x="6309360" y="4983480"/>
            <a:ext cx="52117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Vector binario de 98 columnas: ¿tuvo Nausea? ¿Anxiety? ¿Headache? ...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Arquitectura — cómo funciona el sistema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3"/>
          <p:cNvSpPr/>
          <p:nvPr/>
        </p:nvSpPr>
        <p:spPr>
          <a:xfrm>
            <a:off x="640080" y="1234440"/>
            <a:ext cx="548604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2B6C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4"/>
          <p:cNvSpPr/>
          <p:nvPr/>
        </p:nvSpPr>
        <p:spPr>
          <a:xfrm>
            <a:off x="777240" y="1394640"/>
            <a:ext cx="456840" cy="45684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777240" y="13946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1325880" y="1280160"/>
            <a:ext cx="4708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Datos FAERS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7"/>
          <p:cNvSpPr/>
          <p:nvPr/>
        </p:nvSpPr>
        <p:spPr>
          <a:xfrm>
            <a:off x="1325880" y="1618560"/>
            <a:ext cx="4708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1 fila por paciente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8"/>
          <p:cNvSpPr/>
          <p:nvPr/>
        </p:nvSpPr>
        <p:spPr>
          <a:xfrm>
            <a:off x="3319200" y="2016360"/>
            <a:ext cx="127800" cy="109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A5568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7080" rIns="90000" bIns="3708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9"/>
          <p:cNvSpPr/>
          <p:nvPr/>
        </p:nvSpPr>
        <p:spPr>
          <a:xfrm>
            <a:off x="640080" y="2130480"/>
            <a:ext cx="548604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2B6C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0"/>
          <p:cNvSpPr/>
          <p:nvPr/>
        </p:nvSpPr>
        <p:spPr>
          <a:xfrm>
            <a:off x="777240" y="2290680"/>
            <a:ext cx="456840" cy="45684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1"/>
          <p:cNvSpPr/>
          <p:nvPr/>
        </p:nvSpPr>
        <p:spPr>
          <a:xfrm>
            <a:off x="777240" y="22906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2"/>
          <p:cNvSpPr/>
          <p:nvPr/>
        </p:nvSpPr>
        <p:spPr>
          <a:xfrm>
            <a:off x="1325880" y="2176200"/>
            <a:ext cx="4708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Featurizer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3"/>
          <p:cNvSpPr/>
          <p:nvPr/>
        </p:nvSpPr>
        <p:spPr>
          <a:xfrm>
            <a:off x="1325880" y="2514600"/>
            <a:ext cx="4708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vector X de 228 números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4"/>
          <p:cNvSpPr/>
          <p:nvPr/>
        </p:nvSpPr>
        <p:spPr>
          <a:xfrm>
            <a:off x="3319200" y="2912400"/>
            <a:ext cx="127800" cy="109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A5568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7080" rIns="90000" bIns="3708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5"/>
          <p:cNvSpPr/>
          <p:nvPr/>
        </p:nvSpPr>
        <p:spPr>
          <a:xfrm>
            <a:off x="640080" y="3026520"/>
            <a:ext cx="548604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1A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6"/>
          <p:cNvSpPr/>
          <p:nvPr/>
        </p:nvSpPr>
        <p:spPr>
          <a:xfrm>
            <a:off x="777240" y="3186720"/>
            <a:ext cx="456840" cy="45684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7"/>
          <p:cNvSpPr/>
          <p:nvPr/>
        </p:nvSpPr>
        <p:spPr>
          <a:xfrm>
            <a:off x="777240" y="31867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8"/>
          <p:cNvSpPr/>
          <p:nvPr/>
        </p:nvSpPr>
        <p:spPr>
          <a:xfrm>
            <a:off x="1325880" y="3072240"/>
            <a:ext cx="4708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Red neuronal 228 → 24 → 98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9"/>
          <p:cNvSpPr/>
          <p:nvPr/>
        </p:nvSpPr>
        <p:spPr>
          <a:xfrm>
            <a:off x="1325880" y="3410640"/>
            <a:ext cx="4708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predice Ŷ (probabilidades)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0"/>
          <p:cNvSpPr/>
          <p:nvPr/>
        </p:nvSpPr>
        <p:spPr>
          <a:xfrm>
            <a:off x="3319200" y="3808440"/>
            <a:ext cx="127800" cy="109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A5568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7080" rIns="90000" bIns="3708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1"/>
          <p:cNvSpPr/>
          <p:nvPr/>
        </p:nvSpPr>
        <p:spPr>
          <a:xfrm>
            <a:off x="640080" y="3922920"/>
            <a:ext cx="548604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D69E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2"/>
          <p:cNvSpPr/>
          <p:nvPr/>
        </p:nvSpPr>
        <p:spPr>
          <a:xfrm>
            <a:off x="777240" y="4082760"/>
            <a:ext cx="456840" cy="456840"/>
          </a:xfrm>
          <a:prstGeom prst="ellipse">
            <a:avLst/>
          </a:prstGeom>
          <a:solidFill>
            <a:srgbClr val="D69E2E"/>
          </a:solidFill>
          <a:ln w="12700">
            <a:solidFill>
              <a:srgbClr val="D69E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3"/>
          <p:cNvSpPr/>
          <p:nvPr/>
        </p:nvSpPr>
        <p:spPr>
          <a:xfrm>
            <a:off x="777240" y="4082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4"/>
          <p:cNvSpPr/>
          <p:nvPr/>
        </p:nvSpPr>
        <p:spPr>
          <a:xfrm>
            <a:off x="1325880" y="3968640"/>
            <a:ext cx="4708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Fitness = F1-macro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5"/>
          <p:cNvSpPr/>
          <p:nvPr/>
        </p:nvSpPr>
        <p:spPr>
          <a:xfrm>
            <a:off x="1325880" y="4306680"/>
            <a:ext cx="4708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compara Ŷ con Y real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6"/>
          <p:cNvSpPr/>
          <p:nvPr/>
        </p:nvSpPr>
        <p:spPr>
          <a:xfrm>
            <a:off x="3319200" y="4704480"/>
            <a:ext cx="127800" cy="109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A5568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7080" rIns="90000" bIns="3708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7"/>
          <p:cNvSpPr/>
          <p:nvPr/>
        </p:nvSpPr>
        <p:spPr>
          <a:xfrm>
            <a:off x="640080" y="4818960"/>
            <a:ext cx="548604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E53E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8"/>
          <p:cNvSpPr/>
          <p:nvPr/>
        </p:nvSpPr>
        <p:spPr>
          <a:xfrm>
            <a:off x="777240" y="4978800"/>
            <a:ext cx="456840" cy="45684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9"/>
          <p:cNvSpPr/>
          <p:nvPr/>
        </p:nvSpPr>
        <p:spPr>
          <a:xfrm>
            <a:off x="777240" y="4978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0"/>
          <p:cNvSpPr/>
          <p:nvPr/>
        </p:nvSpPr>
        <p:spPr>
          <a:xfrm>
            <a:off x="1325880" y="4864680"/>
            <a:ext cx="4708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Algoritmo Genético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1"/>
          <p:cNvSpPr/>
          <p:nvPr/>
        </p:nvSpPr>
        <p:spPr>
          <a:xfrm>
            <a:off x="1325880" y="5203080"/>
            <a:ext cx="4708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ajusta los 7 946 pesos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32"/>
          <p:cNvSpPr/>
          <p:nvPr/>
        </p:nvSpPr>
        <p:spPr>
          <a:xfrm>
            <a:off x="3319200" y="5600880"/>
            <a:ext cx="127800" cy="109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A5568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7080" rIns="90000" bIns="3708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33"/>
          <p:cNvSpPr/>
          <p:nvPr/>
        </p:nvSpPr>
        <p:spPr>
          <a:xfrm>
            <a:off x="640080" y="5715000"/>
            <a:ext cx="548604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25400">
            <a:solidFill>
              <a:srgbClr val="38A1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4"/>
          <p:cNvSpPr/>
          <p:nvPr/>
        </p:nvSpPr>
        <p:spPr>
          <a:xfrm>
            <a:off x="777240" y="5875200"/>
            <a:ext cx="456840" cy="456840"/>
          </a:xfrm>
          <a:prstGeom prst="ellipse">
            <a:avLst/>
          </a:prstGeom>
          <a:solidFill>
            <a:srgbClr val="38A169"/>
          </a:solidFill>
          <a:ln w="12700">
            <a:solidFill>
              <a:srgbClr val="38A1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5"/>
          <p:cNvSpPr/>
          <p:nvPr/>
        </p:nvSpPr>
        <p:spPr>
          <a:xfrm>
            <a:off x="777240" y="58752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36"/>
          <p:cNvSpPr/>
          <p:nvPr/>
        </p:nvSpPr>
        <p:spPr>
          <a:xfrm>
            <a:off x="1325880" y="5760720"/>
            <a:ext cx="4708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Validación con SIDER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7"/>
          <p:cNvSpPr/>
          <p:nvPr/>
        </p:nvSpPr>
        <p:spPr>
          <a:xfrm>
            <a:off x="1325880" y="6099120"/>
            <a:ext cx="4708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verificación externa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8"/>
          <p:cNvSpPr/>
          <p:nvPr/>
        </p:nvSpPr>
        <p:spPr>
          <a:xfrm>
            <a:off x="6492240" y="1234440"/>
            <a:ext cx="5211720" cy="1554120"/>
          </a:xfrm>
          <a:prstGeom prst="roundRect">
            <a:avLst>
              <a:gd name="adj" fmla="val 5882"/>
            </a:avLst>
          </a:prstGeom>
          <a:solidFill>
            <a:srgbClr val="FFF5F5"/>
          </a:solidFill>
          <a:ln w="12700">
            <a:solidFill>
              <a:srgbClr val="FFF5F5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9"/>
          <p:cNvSpPr/>
          <p:nvPr/>
        </p:nvSpPr>
        <p:spPr>
          <a:xfrm>
            <a:off x="6675120" y="132588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GENOTIPO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0"/>
          <p:cNvSpPr/>
          <p:nvPr/>
        </p:nvSpPr>
        <p:spPr>
          <a:xfrm>
            <a:off x="6675120" y="164592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Vector real de 7 946 pesos (no binario, Módulo 3)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41"/>
          <p:cNvSpPr/>
          <p:nvPr/>
        </p:nvSpPr>
        <p:spPr>
          <a:xfrm>
            <a:off x="6675120" y="2057400"/>
            <a:ext cx="5028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A5568"/>
                </a:solidFill>
                <a:effectLst/>
                <a:uFillTx/>
                <a:latin typeface="Consolas"/>
                <a:ea typeface="Consolas"/>
              </a:rPr>
              <a:t>[W1 (228×24) | b1 (24) | W2 (24×98) | b2 (98)]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42"/>
          <p:cNvSpPr/>
          <p:nvPr/>
        </p:nvSpPr>
        <p:spPr>
          <a:xfrm>
            <a:off x="6492240" y="2971800"/>
            <a:ext cx="5211720" cy="1554120"/>
          </a:xfrm>
          <a:prstGeom prst="roundRect">
            <a:avLst>
              <a:gd name="adj" fmla="val 5882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3"/>
          <p:cNvSpPr/>
          <p:nvPr/>
        </p:nvSpPr>
        <p:spPr>
          <a:xfrm>
            <a:off x="6675120" y="30632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FENOTIPO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44"/>
          <p:cNvSpPr/>
          <p:nvPr/>
        </p:nvSpPr>
        <p:spPr>
          <a:xfrm>
            <a:off x="6675120" y="338328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Red neuronal de 1 capa oculta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45"/>
          <p:cNvSpPr/>
          <p:nvPr/>
        </p:nvSpPr>
        <p:spPr>
          <a:xfrm>
            <a:off x="6675120" y="3794760"/>
            <a:ext cx="5028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A5568"/>
                </a:solidFill>
                <a:effectLst/>
                <a:uFillTx/>
                <a:latin typeface="Consolas"/>
                <a:ea typeface="Consolas"/>
              </a:rPr>
              <a:t>228  →  ReLU(24)  →  sigmoide(98)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46"/>
          <p:cNvSpPr/>
          <p:nvPr/>
        </p:nvSpPr>
        <p:spPr>
          <a:xfrm>
            <a:off x="6492240" y="5029200"/>
            <a:ext cx="5211720" cy="1554120"/>
          </a:xfrm>
          <a:prstGeom prst="roundRect">
            <a:avLst>
              <a:gd name="adj" fmla="val 5882"/>
            </a:avLst>
          </a:prstGeom>
          <a:solidFill>
            <a:srgbClr val="1A2B4A"/>
          </a:solidFill>
          <a:ln w="12700">
            <a:solidFill>
              <a:srgbClr val="1A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7"/>
          <p:cNvSpPr/>
          <p:nvPr/>
        </p:nvSpPr>
        <p:spPr>
          <a:xfrm>
            <a:off x="6675120" y="5120640"/>
            <a:ext cx="5028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Frase clave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48"/>
          <p:cNvSpPr/>
          <p:nvPr/>
        </p:nvSpPr>
        <p:spPr>
          <a:xfrm>
            <a:off x="6675120" y="5440680"/>
            <a:ext cx="5028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El cromosoma son los pesos de la red. El AG no usa gradiente: combina y muta pesos hasta que la red predice Ŷ parecidas a las Y reales.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Representación — genotipo y fenotipo (Módulo 3)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457200" y="1051560"/>
            <a:ext cx="11246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La decisión más importante del AG: cómo codificar el problema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4"/>
          <p:cNvSpPr/>
          <p:nvPr/>
        </p:nvSpPr>
        <p:spPr>
          <a:xfrm>
            <a:off x="457200" y="1463040"/>
            <a:ext cx="5668920" cy="5028840"/>
          </a:xfrm>
          <a:prstGeom prst="roundRect">
            <a:avLst>
              <a:gd name="adj" fmla="val 1818"/>
            </a:avLst>
          </a:prstGeom>
          <a:solidFill>
            <a:srgbClr val="FFF5F5"/>
          </a:solidFill>
          <a:ln w="12700">
            <a:solidFill>
              <a:srgbClr val="FFF5F5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640080" y="160020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GENOTIPO — representación real no binaria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640080" y="201168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onsolas"/>
                <a:ea typeface="Consolas"/>
              </a:rPr>
              <a:t>[ W1 (228×24)  |  b1 (24)  |  W2 (24×98)  |  b2 (98) ]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7"/>
          <p:cNvSpPr/>
          <p:nvPr/>
        </p:nvSpPr>
        <p:spPr>
          <a:xfrm>
            <a:off x="640080" y="246888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= 7 946 números reales por individuo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640080" y="2926080"/>
            <a:ext cx="530316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Por qué REAL y no binario: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Los pesos de una red son continuos.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Codificar en bits perdería precisión.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Operadores naturales (reales): cruce aritmético + mutación gaussiana.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Propiedad clave: LOCALIDAD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Cada gen es un peso individual; mutaciones chicas → cambios chicos en el fenotipo. Cumple con "perfect representation" del material.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9"/>
          <p:cNvSpPr/>
          <p:nvPr/>
        </p:nvSpPr>
        <p:spPr>
          <a:xfrm>
            <a:off x="6309360" y="1463040"/>
            <a:ext cx="5394600" cy="5028840"/>
          </a:xfrm>
          <a:prstGeom prst="roundRect">
            <a:avLst>
              <a:gd name="adj" fmla="val 1818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6492240" y="16002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FENOTIPO — red neuronal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1"/>
          <p:cNvSpPr/>
          <p:nvPr/>
        </p:nvSpPr>
        <p:spPr>
          <a:xfrm>
            <a:off x="6583680" y="2194560"/>
            <a:ext cx="14626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B6C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6583680" y="22860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Entrada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6583680" y="26517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228 features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4"/>
          <p:cNvSpPr/>
          <p:nvPr/>
        </p:nvSpPr>
        <p:spPr>
          <a:xfrm>
            <a:off x="8046720" y="2560320"/>
            <a:ext cx="2282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A5568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5"/>
          <p:cNvSpPr/>
          <p:nvPr/>
        </p:nvSpPr>
        <p:spPr>
          <a:xfrm>
            <a:off x="8275320" y="2194560"/>
            <a:ext cx="14626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A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6"/>
          <p:cNvSpPr/>
          <p:nvPr/>
        </p:nvSpPr>
        <p:spPr>
          <a:xfrm>
            <a:off x="8275320" y="22860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Oculta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7"/>
          <p:cNvSpPr/>
          <p:nvPr/>
        </p:nvSpPr>
        <p:spPr>
          <a:xfrm>
            <a:off x="8275320" y="26517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24 neuronas ReLU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8"/>
          <p:cNvSpPr/>
          <p:nvPr/>
        </p:nvSpPr>
        <p:spPr>
          <a:xfrm>
            <a:off x="9738360" y="2560320"/>
            <a:ext cx="22824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A5568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9"/>
          <p:cNvSpPr/>
          <p:nvPr/>
        </p:nvSpPr>
        <p:spPr>
          <a:xfrm>
            <a:off x="9966960" y="2194560"/>
            <a:ext cx="14626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53E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0"/>
          <p:cNvSpPr/>
          <p:nvPr/>
        </p:nvSpPr>
        <p:spPr>
          <a:xfrm>
            <a:off x="9966960" y="22860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Salida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1"/>
          <p:cNvSpPr/>
          <p:nvPr/>
        </p:nvSpPr>
        <p:spPr>
          <a:xfrm>
            <a:off x="9966960" y="26517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98 sigmoides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2"/>
          <p:cNvSpPr/>
          <p:nvPr/>
        </p:nvSpPr>
        <p:spPr>
          <a:xfrm>
            <a:off x="6492240" y="3383280"/>
            <a:ext cx="502884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Cómo se conectan genotipo y fenotipo: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set_genome(cromosoma) desempaqueta los 7 946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números en las matrices W1, b1, W2, b2.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Forward pass: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Ŷ = sigmoide( ReLU(X·W1 + b1) · W2 + b2 )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Operadores evolutivos (Módulos 2 y 4)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457200" y="1051560"/>
            <a:ext cx="11246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Cómo el AG transforma una generación en la siguiente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457200" y="1463040"/>
            <a:ext cx="5577480" cy="2468520"/>
          </a:xfrm>
          <a:prstGeom prst="roundRect">
            <a:avLst>
              <a:gd name="adj" fmla="val 3704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640080" y="16002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Selección por RANK lineal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4572000" y="160020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Módulo 4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7"/>
          <p:cNvSpPr/>
          <p:nvPr/>
        </p:nvSpPr>
        <p:spPr>
          <a:xfrm>
            <a:off x="640080" y="201168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6CB0"/>
                </a:solidFill>
                <a:effectLst/>
                <a:uFillTx/>
                <a:latin typeface="Consolas"/>
                <a:ea typeface="Consolas"/>
              </a:rPr>
              <a:t>selection = rank, s = 1.7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8"/>
          <p:cNvSpPr/>
          <p:nvPr/>
        </p:nvSpPr>
        <p:spPr>
          <a:xfrm>
            <a:off x="640080" y="2423160"/>
            <a:ext cx="52117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Cada individuo recibe probabilidad según su posición en el ranking (no según fitness absoluto). Presión selectiva CONSTANTE = s = 1.7, independiente de la escala del fitness y del colapso de la población.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6309360" y="1463040"/>
            <a:ext cx="5577480" cy="2468520"/>
          </a:xfrm>
          <a:prstGeom prst="roundRect">
            <a:avLst>
              <a:gd name="adj" fmla="val 3704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0"/>
          <p:cNvSpPr/>
          <p:nvPr/>
        </p:nvSpPr>
        <p:spPr>
          <a:xfrm>
            <a:off x="6492240" y="160020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38A169"/>
                </a:solidFill>
                <a:effectLst/>
                <a:uFillTx/>
                <a:latin typeface="Calibri"/>
                <a:ea typeface="Calibri"/>
              </a:rPr>
              <a:t>Cruce uniforme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1"/>
          <p:cNvSpPr/>
          <p:nvPr/>
        </p:nvSpPr>
        <p:spPr>
          <a:xfrm>
            <a:off x="10424160" y="160020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Módulo 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2"/>
          <p:cNvSpPr/>
          <p:nvPr/>
        </p:nvSpPr>
        <p:spPr>
          <a:xfrm>
            <a:off x="6492240" y="201168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8A169"/>
                </a:solidFill>
                <a:effectLst/>
                <a:uFillTx/>
                <a:latin typeface="Consolas"/>
                <a:ea typeface="Consolas"/>
              </a:rPr>
              <a:t>p_crossover = 0.9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3"/>
          <p:cNvSpPr/>
          <p:nvPr/>
        </p:nvSpPr>
        <p:spPr>
          <a:xfrm>
            <a:off x="6492240" y="2423160"/>
            <a:ext cx="52117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Para cada gen, hijo1 hereda del padre A o B con probabilidad 0.5. Operador primario — recombina building blocks de buenos individuos.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457200" y="4069080"/>
            <a:ext cx="5577480" cy="2468520"/>
          </a:xfrm>
          <a:prstGeom prst="roundRect">
            <a:avLst>
              <a:gd name="adj" fmla="val 3704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5"/>
          <p:cNvSpPr/>
          <p:nvPr/>
        </p:nvSpPr>
        <p:spPr>
          <a:xfrm>
            <a:off x="640080" y="420624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D69E2E"/>
                </a:solidFill>
                <a:effectLst/>
                <a:uFillTx/>
                <a:latin typeface="Calibri"/>
                <a:ea typeface="Calibri"/>
              </a:rPr>
              <a:t>Mutación gaussiana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6"/>
          <p:cNvSpPr/>
          <p:nvPr/>
        </p:nvSpPr>
        <p:spPr>
          <a:xfrm>
            <a:off x="4572000" y="420624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Módulo 2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7"/>
          <p:cNvSpPr/>
          <p:nvPr/>
        </p:nvSpPr>
        <p:spPr>
          <a:xfrm>
            <a:off x="640080" y="461772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69E2E"/>
                </a:solidFill>
                <a:effectLst/>
                <a:uFillTx/>
                <a:latin typeface="Consolas"/>
                <a:ea typeface="Consolas"/>
              </a:rPr>
              <a:t>p_mutation = 0.05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8"/>
          <p:cNvSpPr/>
          <p:nvPr/>
        </p:nvSpPr>
        <p:spPr>
          <a:xfrm>
            <a:off x="640080" y="5029200"/>
            <a:ext cx="52117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Cada gen tiene 5 % de probabilidad de recibir ruido N(0, σ). Operador secundario — reinyecta variación y evita perder alelos.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6309360" y="4069080"/>
            <a:ext cx="5577480" cy="2468520"/>
          </a:xfrm>
          <a:prstGeom prst="roundRect">
            <a:avLst>
              <a:gd name="adj" fmla="val 3704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0"/>
          <p:cNvSpPr/>
          <p:nvPr/>
        </p:nvSpPr>
        <p:spPr>
          <a:xfrm>
            <a:off x="6492240" y="4206240"/>
            <a:ext cx="3931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Elitismo + control adaptativo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1"/>
          <p:cNvSpPr/>
          <p:nvPr/>
        </p:nvSpPr>
        <p:spPr>
          <a:xfrm>
            <a:off x="10424160" y="4206240"/>
            <a:ext cx="1371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Módulo 2/5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"/>
          <p:cNvSpPr/>
          <p:nvPr/>
        </p:nvSpPr>
        <p:spPr>
          <a:xfrm>
            <a:off x="6492240" y="461772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53E3E"/>
                </a:solidFill>
                <a:effectLst/>
                <a:uFillTx/>
                <a:latin typeface="Consolas"/>
                <a:ea typeface="Consolas"/>
              </a:rPr>
              <a:t>elitism = 2, immigrants = 8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3"/>
          <p:cNvSpPr/>
          <p:nvPr/>
        </p:nvSpPr>
        <p:spPr>
          <a:xfrm>
            <a:off x="6492240" y="5029200"/>
            <a:ext cx="52117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Los 2 mejores pasan intactos. Diversidad medida como std promedio del GENOTIPO: si cae bajo 0.09 se inyectan 8 inmigrantes aleatorios y σ se multiplica ×3 (boost) para explorar de nuevo.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Cómo evolucionó el fitness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Image 0" descr="C:\Users\alzug\OneDrive\Documentos\GitHub\AgusProyecto\farmApp-TCE\outputs\figures\ga_convergence.png"/>
          <p:cNvPicPr/>
          <p:nvPr/>
        </p:nvPicPr>
        <p:blipFill>
          <a:blip r:embed="rId1"/>
          <a:stretch/>
        </p:blipFill>
        <p:spPr>
          <a:xfrm>
            <a:off x="457200" y="1280160"/>
            <a:ext cx="777204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Shape 3"/>
          <p:cNvSpPr/>
          <p:nvPr/>
        </p:nvSpPr>
        <p:spPr>
          <a:xfrm>
            <a:off x="8503920" y="1280160"/>
            <a:ext cx="3200040" cy="4571640"/>
          </a:xfrm>
          <a:prstGeom prst="roundRect">
            <a:avLst>
              <a:gd name="adj" fmla="val 2857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8686800" y="137160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Lo que se ve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5"/>
          <p:cNvSpPr/>
          <p:nvPr/>
        </p:nvSpPr>
        <p:spPr>
          <a:xfrm>
            <a:off x="8686800" y="1783080"/>
            <a:ext cx="301716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</a:pPr>
            <a:r>
              <a:rPr lang="en-US" sz="11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Mejor fitness 0.05 → 0.14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en 300 generaciones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Diversidad genotípica (naranja)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std promedio del cromosoma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(independiente del fitness)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5 inyecciones de inmigrantes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al cruzar el umbral 0.09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(control adaptativo, Módulo 5)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Presión selectiva = 1.7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rank lineal, constante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(independiente de la población, Módulo 4)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σ adaptativo (verde)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reacciona a la diversidad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6"/>
          <p:cNvSpPr/>
          <p:nvPr/>
        </p:nvSpPr>
        <p:spPr>
          <a:xfrm>
            <a:off x="457200" y="5989320"/>
            <a:ext cx="11246760" cy="639720"/>
          </a:xfrm>
          <a:prstGeom prst="roundRect">
            <a:avLst>
              <a:gd name="adj" fmla="val 11429"/>
            </a:avLst>
          </a:prstGeom>
          <a:solidFill>
            <a:srgbClr val="1A2B4A"/>
          </a:solidFill>
          <a:ln w="12700">
            <a:solidFill>
              <a:srgbClr val="1A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640080" y="603504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 métricas independientes: fitness (Módulo 6), diversidad genotípica y presión selectiva teórica (rank, Módulo 4). El ciclo cae → inyecta → recupera se ve 5 veces gracias a los inmigrantes adaptativos (Módulo 5).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Criterio de parada — ¿cuántas generaciones bastan?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457200" y="1051560"/>
            <a:ext cx="11246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Corrimos 3 experimentos con 120, 300 y 500 generaciones para encontrar el punto óptimo de parada.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7" name="Table 0"/>
          <p:cNvGraphicFramePr/>
          <p:nvPr/>
        </p:nvGraphicFramePr>
        <p:xfrm>
          <a:off x="457200" y="1463040"/>
          <a:ext cx="1124676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2194560"/>
                <a:gridCol w="2194560"/>
                <a:gridCol w="22860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Generaciones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Fitness final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F1 test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Tiempo CPU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Tasa mejora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120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0.132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0.0998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 min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0.0011/gen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38A16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300  ★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38A16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0.164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38A16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0.1091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38A16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7.5 min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0FF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38A16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0.00018/gen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0FFF4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500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0.166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0.1089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12.7 min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0.00001/gen</a:t>
                      </a:r>
                      <a:endParaRPr lang="es-E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8" name="Shape 4"/>
          <p:cNvSpPr/>
          <p:nvPr/>
        </p:nvSpPr>
        <p:spPr>
          <a:xfrm>
            <a:off x="457200" y="3657600"/>
            <a:ext cx="5577480" cy="2742840"/>
          </a:xfrm>
          <a:prstGeom prst="roundRect">
            <a:avLst>
              <a:gd name="adj" fmla="val 3333"/>
            </a:avLst>
          </a:prstGeom>
          <a:solidFill>
            <a:srgbClr val="F0FFF4"/>
          </a:solidFill>
          <a:ln w="12700">
            <a:solidFill>
              <a:srgbClr val="F0FFF4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640080" y="379476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38A169"/>
                </a:solidFill>
                <a:effectLst/>
                <a:uFillTx/>
                <a:latin typeface="Calibri"/>
                <a:ea typeface="Calibri"/>
              </a:rPr>
              <a:t>📈 Hallazgo 1: rendimiento marginal decreciente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640080" y="4251960"/>
            <a:ext cx="52117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La tasa de mejora cae 110× entre el inicio y el final.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120 → 300 gen: +0.014 (mejora útil).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300 → 500 gen: solo +0.002 (casi cero).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6126480" y="3657600"/>
            <a:ext cx="5577480" cy="2742840"/>
          </a:xfrm>
          <a:prstGeom prst="roundRect">
            <a:avLst>
              <a:gd name="adj" fmla="val 3333"/>
            </a:avLst>
          </a:prstGeom>
          <a:solidFill>
            <a:srgbClr val="FFF5F5"/>
          </a:solidFill>
          <a:ln w="12700">
            <a:solidFill>
              <a:srgbClr val="FFF5F5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8"/>
          <p:cNvSpPr/>
          <p:nvPr/>
        </p:nvSpPr>
        <p:spPr>
          <a:xfrm>
            <a:off x="6309360" y="3794760"/>
            <a:ext cx="5211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⚠️ Hallazgo 2: overfitting al subset de fitness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9"/>
          <p:cNvSpPr/>
          <p:nvPr/>
        </p:nvSpPr>
        <p:spPr>
          <a:xfrm>
            <a:off x="6309360" y="4251960"/>
            <a:ext cx="52117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En 500 gen, el fitness sigue subiendo (0.164 → 0.166)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pero el F1 de test BAJA (0.1091 → 0.1089).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El AG empieza a sobreajustarse al subset de fitness.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</a:rPr>
              <a:t>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38A169"/>
                </a:solidFill>
                <a:effectLst/>
                <a:uFillTx/>
                <a:latin typeface="Calibri"/>
              </a:rPr>
              <a:t>300 generaciones = mejor F1 con menor tiempo.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Impacto del AG en el sistema (ablación)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457200" y="1051560"/>
            <a:ext cx="11246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Le sacamos al AG un componente a la vez. Mismo presupuesto: 2 040 evaluaciones de fitness en todas las configuraciones.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 0" descr="C:\Users\alzug\OneDrive\Documentos\GitHub\AgusProyecto\farmApp-TCE\outputs\figures\ablation.png"/>
          <p:cNvPicPr/>
          <p:nvPr/>
        </p:nvPicPr>
        <p:blipFill>
          <a:blip r:embed="rId1"/>
          <a:stretch/>
        </p:blipFill>
        <p:spPr>
          <a:xfrm>
            <a:off x="457200" y="1417320"/>
            <a:ext cx="6857640" cy="365724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69" name="Table 0"/>
          <p:cNvGraphicFramePr/>
          <p:nvPr/>
        </p:nvGraphicFramePr>
        <p:xfrm>
          <a:off x="7589520" y="1417320"/>
          <a:ext cx="4114440" cy="2304000"/>
        </p:xfrm>
        <a:graphic>
          <a:graphicData uri="http://schemas.openxmlformats.org/drawingml/2006/table">
            <a:tbl>
              <a:tblPr/>
              <a:tblGrid>
                <a:gridCol w="2194560"/>
                <a:gridCol w="960120"/>
                <a:gridCol w="960120"/>
              </a:tblGrid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Configuración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Fitness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F1 test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Random search (sin AG)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0.061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0.051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Solo mutación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0.082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0.059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Solo cruce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0.096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0.066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Sin elitismo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0.102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0.075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 AG COMPLETO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0.065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70" name="Shape 4"/>
          <p:cNvSpPr/>
          <p:nvPr/>
        </p:nvSpPr>
        <p:spPr>
          <a:xfrm>
            <a:off x="457200" y="5212080"/>
            <a:ext cx="11246760" cy="1462680"/>
          </a:xfrm>
          <a:prstGeom prst="roundRect">
            <a:avLst>
              <a:gd name="adj" fmla="val 6250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5"/>
          <p:cNvSpPr/>
          <p:nvPr/>
        </p:nvSpPr>
        <p:spPr>
          <a:xfrm>
            <a:off x="731520" y="5303520"/>
            <a:ext cx="106981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Random search → AG completo: F1 +27 %.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Con el mismo presupuesto de evaluaciones, la evolución hace algo más que muestrear al azar — la presión de selección + los operadores guían la búsqueda.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Cruce vs mutación.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Solo cruce (0.096) &gt; solo mutación (0.082). Coincide con Goldberg (SGA, Módulo 2): cruce es primario, mutación es secundario.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9a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Experimento — probabilidad de mutación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0" descr="C:\Users\alzug\OneDrive\Documentos\GitHub\AgusProyecto\farmApp-TCE\outputs\figures\exp_mutation.png"/>
          <p:cNvPicPr/>
          <p:nvPr/>
        </p:nvPicPr>
        <p:blipFill>
          <a:blip r:embed="rId1"/>
          <a:stretch/>
        </p:blipFill>
        <p:spPr>
          <a:xfrm>
            <a:off x="457200" y="1280160"/>
            <a:ext cx="7314840" cy="42058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76" name="Table 0"/>
          <p:cNvGraphicFramePr/>
          <p:nvPr/>
        </p:nvGraphicFramePr>
        <p:xfrm>
          <a:off x="8046720" y="1417320"/>
          <a:ext cx="3657240" cy="2560320"/>
        </p:xfrm>
        <a:graphic>
          <a:graphicData uri="http://schemas.openxmlformats.org/drawingml/2006/table">
            <a:tbl>
              <a:tblPr/>
              <a:tblGrid>
                <a:gridCol w="1371600"/>
                <a:gridCol w="1143000"/>
                <a:gridCol w="114300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p_mutation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Fitness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F1 test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0.01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0.092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0.069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0.03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0.094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0.070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0.05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0.065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  ★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0.103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0.068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0.20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0.093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0.065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0.092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0.071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7" name="Shape 3"/>
          <p:cNvSpPr/>
          <p:nvPr/>
        </p:nvSpPr>
        <p:spPr>
          <a:xfrm>
            <a:off x="457200" y="5669280"/>
            <a:ext cx="11246760" cy="1005480"/>
          </a:xfrm>
          <a:prstGeom prst="roundRect">
            <a:avLst>
              <a:gd name="adj" fmla="val 9091"/>
            </a:avLst>
          </a:prstGeom>
          <a:solidFill>
            <a:srgbClr val="FFF5F5"/>
          </a:solidFill>
          <a:ln w="12700">
            <a:solidFill>
              <a:srgbClr val="FFF5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4"/>
          <p:cNvSpPr/>
          <p:nvPr/>
        </p:nvSpPr>
        <p:spPr>
          <a:xfrm>
            <a:off x="731520" y="5760720"/>
            <a:ext cx="106981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Patrón en U invertida — exactamente lo que predice la teoría: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Mutación muy baja (0.01) → no explora. Óptima (0.05-0.10) → balance exploración/explotación. Alta (0.20-0.30) → destruye soluciones buenas más rápido que las construye.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9b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Experimento — probabilidad de cruce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Image 0" descr="C:\Users\alzug\OneDrive\Documentos\GitHub\AgusProyecto\farmApp-TCE\outputs\figures\exp_crossover_prob.png"/>
          <p:cNvPicPr/>
          <p:nvPr/>
        </p:nvPicPr>
        <p:blipFill>
          <a:blip r:embed="rId1"/>
          <a:stretch/>
        </p:blipFill>
        <p:spPr>
          <a:xfrm>
            <a:off x="457200" y="1280160"/>
            <a:ext cx="7314840" cy="42058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83" name="Table 0"/>
          <p:cNvGraphicFramePr/>
          <p:nvPr/>
        </p:nvGraphicFramePr>
        <p:xfrm>
          <a:off x="8046720" y="1417320"/>
          <a:ext cx="3657240" cy="1828800"/>
        </p:xfrm>
        <a:graphic>
          <a:graphicData uri="http://schemas.openxmlformats.org/drawingml/2006/table">
            <a:tbl>
              <a:tblPr/>
              <a:tblGrid>
                <a:gridCol w="1371600"/>
                <a:gridCol w="1143000"/>
                <a:gridCol w="114300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p_crossover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Fitness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F1 test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0.086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0.061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0.095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0.069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0.065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1.00  ★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0.110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0.077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84" name="Shape 3"/>
          <p:cNvSpPr/>
          <p:nvPr/>
        </p:nvSpPr>
        <p:spPr>
          <a:xfrm>
            <a:off x="457200" y="5669280"/>
            <a:ext cx="11246760" cy="1005480"/>
          </a:xfrm>
          <a:prstGeom prst="roundRect">
            <a:avLst>
              <a:gd name="adj" fmla="val 9091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4"/>
          <p:cNvSpPr/>
          <p:nvPr/>
        </p:nvSpPr>
        <p:spPr>
          <a:xfrm>
            <a:off x="731520" y="5760720"/>
            <a:ext cx="106981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Patrón monótono creciente: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Cuanta más recombinación, mejor. Confirma el rol del cruce como operador primario en alta dimensionalidad (7 946 dims).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9c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Experimento — operador de cruce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" name="Image 0" descr="C:\Users\alzug\OneDrive\Documentos\GitHub\AgusProyecto\farmApp-TCE\outputs\figures\exp_crossover_kind.png"/>
          <p:cNvPicPr/>
          <p:nvPr/>
        </p:nvPicPr>
        <p:blipFill>
          <a:blip r:embed="rId1"/>
          <a:stretch/>
        </p:blipFill>
        <p:spPr>
          <a:xfrm>
            <a:off x="457200" y="1280160"/>
            <a:ext cx="7314840" cy="42058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90" name="Table 0"/>
          <p:cNvGraphicFramePr/>
          <p:nvPr/>
        </p:nvGraphicFramePr>
        <p:xfrm>
          <a:off x="8046720" y="1417320"/>
          <a:ext cx="3657240" cy="1463040"/>
        </p:xfrm>
        <a:graphic>
          <a:graphicData uri="http://schemas.openxmlformats.org/drawingml/2006/table">
            <a:tbl>
              <a:tblPr/>
              <a:tblGrid>
                <a:gridCol w="1371600"/>
                <a:gridCol w="1143000"/>
                <a:gridCol w="114300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Operador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Fitness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F1 test</a:t>
                      </a:r>
                      <a:endParaRPr lang="es-E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1A2B4A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uniform  ★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E53E3E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0.065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solidFill>
                      <a:srgbClr val="FFF5F5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one_point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0.086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0.060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arithmetic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0.086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A202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0.064</a:t>
                      </a:r>
                      <a:endParaRPr lang="es-E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CBD5E0"/>
                      </a:solidFill>
                      <a:prstDash val="solid"/>
                    </a:lnL>
                    <a:lnR w="6480">
                      <a:solidFill>
                        <a:srgbClr val="CBD5E0"/>
                      </a:solidFill>
                      <a:prstDash val="solid"/>
                    </a:lnR>
                    <a:lnT w="6480">
                      <a:solidFill>
                        <a:srgbClr val="CBD5E0"/>
                      </a:solidFill>
                      <a:prstDash val="solid"/>
                    </a:lnT>
                    <a:lnB w="6480">
                      <a:solidFill>
                        <a:srgbClr val="CBD5E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1" name="Shape 3"/>
          <p:cNvSpPr/>
          <p:nvPr/>
        </p:nvSpPr>
        <p:spPr>
          <a:xfrm>
            <a:off x="457200" y="5669280"/>
            <a:ext cx="11246760" cy="1005480"/>
          </a:xfrm>
          <a:prstGeom prst="roundRect">
            <a:avLst>
              <a:gd name="adj" fmla="val 9091"/>
            </a:avLst>
          </a:prstGeom>
          <a:solidFill>
            <a:srgbClr val="FFF5F5"/>
          </a:solidFill>
          <a:ln w="12700">
            <a:solidFill>
              <a:srgbClr val="FFF5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4"/>
          <p:cNvSpPr/>
          <p:nvPr/>
        </p:nvSpPr>
        <p:spPr>
          <a:xfrm>
            <a:off x="731520" y="5760720"/>
            <a:ext cx="106981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Uniforme gana en alta dimensión: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Con 7 946 dimensiones, el corte de un punto rompe bloques útiles dispersos. El aritmético queda "entre los padres" → poca exploración.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Configuración final elegida: p_mutation = 0.05, p_crossover = 0.9, operador = uniforme.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Multi-objetivo: NSGA-II (Módulo 7)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457200" y="1051560"/>
            <a:ext cx="11246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Precisión y recall están en conflicto: un solo F1 esconde el compromiso.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C:\Users\alzug\OneDrive\Documentos\GitHub\AgusProyecto\farmApp-TCE\outputs\figures\nsga2_pareto_front.png"/>
          <p:cNvPicPr/>
          <p:nvPr/>
        </p:nvPicPr>
        <p:blipFill>
          <a:blip r:embed="rId1"/>
          <a:stretch/>
        </p:blipFill>
        <p:spPr>
          <a:xfrm>
            <a:off x="457200" y="1417320"/>
            <a:ext cx="685764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Shape 4"/>
          <p:cNvSpPr/>
          <p:nvPr/>
        </p:nvSpPr>
        <p:spPr>
          <a:xfrm>
            <a:off x="7589520" y="1417320"/>
            <a:ext cx="4114440" cy="4571640"/>
          </a:xfrm>
          <a:prstGeom prst="roundRect">
            <a:avLst>
              <a:gd name="adj" fmla="val 2222"/>
            </a:avLst>
          </a:prstGeom>
          <a:solidFill>
            <a:srgbClr val="FAF5FF"/>
          </a:solidFill>
          <a:ln w="12700">
            <a:solidFill>
              <a:srgbClr val="FAF5FF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7772400" y="155448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05AD5"/>
                </a:solidFill>
                <a:effectLst/>
                <a:uFillTx/>
                <a:latin typeface="Calibri"/>
                <a:ea typeface="Calibri"/>
              </a:rPr>
              <a:t>Qué cambia respecto al AG normal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7772400" y="1965960"/>
            <a:ext cx="3840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Antes (AG mono-objetivo):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un solo número (F1) por individuo.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Ahora (NSGA-II):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cada individuo tiene 2 fitness (precisión y recall).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selección por non-dominated sort.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diversidad mantenida por crowding distance.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1" u="none" strike="noStrike">
                <a:solidFill>
                  <a:srgbClr val="805AD5"/>
                </a:solidFill>
                <a:effectLst/>
                <a:uFillTx/>
                <a:latin typeface="Calibri"/>
                <a:ea typeface="Calibri"/>
              </a:rPr>
              <a:t>Resultado: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~21 soluciones no dominadas — el frente de Pareto.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El usuario elige el punto según prefiera precisión o cobertura.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7"/>
          <p:cNvSpPr/>
          <p:nvPr/>
        </p:nvSpPr>
        <p:spPr>
          <a:xfrm>
            <a:off x="457200" y="6126480"/>
            <a:ext cx="11246760" cy="548280"/>
          </a:xfrm>
          <a:prstGeom prst="roundRect">
            <a:avLst>
              <a:gd name="adj" fmla="val 13333"/>
            </a:avLst>
          </a:prstGeom>
          <a:solidFill>
            <a:srgbClr val="1A2B4A"/>
          </a:solidFill>
          <a:ln w="12700">
            <a:solidFill>
              <a:srgbClr val="1A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8"/>
          <p:cNvSpPr/>
          <p:nvPr/>
        </p:nvSpPr>
        <p:spPr>
          <a:xfrm>
            <a:off x="640080" y="612648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Demuestra que la evolución también puede explorar trade-offs en lugar de optimizar un único objetivo.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XAI — explicabilidad del individuo (Módulo 9)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"/>
          <p:cNvSpPr/>
          <p:nvPr/>
        </p:nvSpPr>
        <p:spPr>
          <a:xfrm>
            <a:off x="457200" y="1051560"/>
            <a:ext cx="11246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Como la red es chica, sus pesos son inspeccionables: derivamos importancia por feature.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C:\Users\alzug\OneDrive\Documentos\GitHub\AgusProyecto\farmApp-TCE\outputs\figures\ga_feature_importance.png"/>
          <p:cNvPicPr/>
          <p:nvPr/>
        </p:nvPicPr>
        <p:blipFill>
          <a:blip r:embed="rId1"/>
          <a:stretch/>
        </p:blipFill>
        <p:spPr>
          <a:xfrm>
            <a:off x="457200" y="1417320"/>
            <a:ext cx="731484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Shape 4"/>
          <p:cNvSpPr/>
          <p:nvPr/>
        </p:nvSpPr>
        <p:spPr>
          <a:xfrm>
            <a:off x="8046720" y="1417320"/>
            <a:ext cx="3657240" cy="4571640"/>
          </a:xfrm>
          <a:prstGeom prst="roundRect">
            <a:avLst>
              <a:gd name="adj" fmla="val 2500"/>
            </a:avLst>
          </a:prstGeom>
          <a:solidFill>
            <a:srgbClr val="F0FFF4"/>
          </a:solidFill>
          <a:ln w="12700">
            <a:solidFill>
              <a:srgbClr val="F0FFF4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5"/>
          <p:cNvSpPr/>
          <p:nvPr/>
        </p:nvSpPr>
        <p:spPr>
          <a:xfrm>
            <a:off x="8229600" y="155448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A169"/>
                </a:solidFill>
                <a:effectLst/>
                <a:uFillTx/>
                <a:latin typeface="Calibri"/>
                <a:ea typeface="Calibri"/>
              </a:rPr>
              <a:t>Cómo se calcula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6"/>
          <p:cNvSpPr/>
          <p:nvPr/>
        </p:nvSpPr>
        <p:spPr>
          <a:xfrm>
            <a:off x="8229600" y="1965960"/>
            <a:ext cx="33829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Propagamos las magnitudes: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| W1 |  ·  | W2 |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Cada feature (cada columna de entrada) recibe un score según cuánto pesa en las decisiones finales.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1" u="none" strike="noStrike">
                <a:solidFill>
                  <a:srgbClr val="38A169"/>
                </a:solidFill>
                <a:effectLst/>
                <a:uFillTx/>
                <a:latin typeface="Calibri"/>
                <a:ea typeface="Calibri"/>
              </a:rPr>
              <a:t>Qué pesa más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Fármacos concretos e indicaciones aparecen primero — el modelo aprendió relaciones interpretables.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7"/>
          <p:cNvSpPr/>
          <p:nvPr/>
        </p:nvSpPr>
        <p:spPr>
          <a:xfrm>
            <a:off x="457200" y="6126480"/>
            <a:ext cx="11246760" cy="548280"/>
          </a:xfrm>
          <a:prstGeom prst="roundRect">
            <a:avLst>
              <a:gd name="adj" fmla="val 13333"/>
            </a:avLst>
          </a:prstGeom>
          <a:solidFill>
            <a:srgbClr val="1A2B4A"/>
          </a:solidFill>
          <a:ln w="12700">
            <a:solidFill>
              <a:srgbClr val="1A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8"/>
          <p:cNvSpPr/>
          <p:nvPr/>
        </p:nvSpPr>
        <p:spPr>
          <a:xfrm>
            <a:off x="640080" y="6126480"/>
            <a:ext cx="10881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El individuo evolucionado NO es una caja negra: la representación elegida lo hace interpretable.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457200" y="274320"/>
            <a:ext cx="82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1325880" y="27432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B4A"/>
                </a:solidFill>
                <a:effectLst/>
                <a:uFillTx/>
                <a:latin typeface="Calibri"/>
                <a:ea typeface="Calibri"/>
              </a:rPr>
              <a:t>Resultados finales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457200" y="960120"/>
            <a:ext cx="11246760" cy="18000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457200" y="1188720"/>
            <a:ext cx="2742840" cy="155412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E53E3E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4"/>
          <p:cNvSpPr/>
          <p:nvPr/>
        </p:nvSpPr>
        <p:spPr>
          <a:xfrm>
            <a:off x="594360" y="1280160"/>
            <a:ext cx="2468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E53E3E"/>
                </a:solidFill>
                <a:effectLst/>
                <a:uFillTx/>
                <a:latin typeface="Calibri"/>
                <a:ea typeface="Calibri"/>
              </a:rPr>
              <a:t>F1-macro test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5"/>
          <p:cNvSpPr/>
          <p:nvPr/>
        </p:nvSpPr>
        <p:spPr>
          <a:xfrm>
            <a:off x="594360" y="16002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A202C"/>
                </a:solidFill>
                <a:effectLst/>
                <a:uFillTx/>
                <a:latin typeface="Cambria"/>
                <a:ea typeface="Cambria"/>
              </a:rPr>
              <a:t>0.109</a:t>
            </a:r>
            <a:endParaRPr lang="es-E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594360" y="24231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modelo evolucionado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7"/>
          <p:cNvSpPr/>
          <p:nvPr/>
        </p:nvSpPr>
        <p:spPr>
          <a:xfrm>
            <a:off x="3337560" y="1188720"/>
            <a:ext cx="2742840" cy="155412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2B6CB0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8"/>
          <p:cNvSpPr/>
          <p:nvPr/>
        </p:nvSpPr>
        <p:spPr>
          <a:xfrm>
            <a:off x="3474720" y="1280160"/>
            <a:ext cx="2468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2B6CB0"/>
                </a:solidFill>
                <a:effectLst/>
                <a:uFillTx/>
                <a:latin typeface="Calibri"/>
                <a:ea typeface="Calibri"/>
              </a:rPr>
              <a:t>Precision macro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9"/>
          <p:cNvSpPr/>
          <p:nvPr/>
        </p:nvSpPr>
        <p:spPr>
          <a:xfrm>
            <a:off x="3474720" y="16002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A202C"/>
                </a:solidFill>
                <a:effectLst/>
                <a:uFillTx/>
                <a:latin typeface="Cambria"/>
                <a:ea typeface="Cambria"/>
              </a:rPr>
              <a:t>0.125</a:t>
            </a:r>
            <a:endParaRPr lang="es-E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0"/>
          <p:cNvSpPr/>
          <p:nvPr/>
        </p:nvSpPr>
        <p:spPr>
          <a:xfrm>
            <a:off x="3474720" y="24231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del individuo ganador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1"/>
          <p:cNvSpPr/>
          <p:nvPr/>
        </p:nvSpPr>
        <p:spPr>
          <a:xfrm>
            <a:off x="6217920" y="1188720"/>
            <a:ext cx="2742840" cy="155412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38A169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2"/>
          <p:cNvSpPr/>
          <p:nvPr/>
        </p:nvSpPr>
        <p:spPr>
          <a:xfrm>
            <a:off x="6355080" y="1280160"/>
            <a:ext cx="2468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38A169"/>
                </a:solidFill>
                <a:effectLst/>
                <a:uFillTx/>
                <a:latin typeface="Calibri"/>
                <a:ea typeface="Calibri"/>
              </a:rPr>
              <a:t>F1 vs SIDER 4.1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3"/>
          <p:cNvSpPr/>
          <p:nvPr/>
        </p:nvSpPr>
        <p:spPr>
          <a:xfrm>
            <a:off x="6355080" y="16002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A202C"/>
                </a:solidFill>
                <a:effectLst/>
                <a:uFillTx/>
                <a:latin typeface="Cambria"/>
                <a:ea typeface="Cambria"/>
              </a:rPr>
              <a:t>0.32</a:t>
            </a:r>
            <a:endParaRPr lang="es-E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4"/>
          <p:cNvSpPr/>
          <p:nvPr/>
        </p:nvSpPr>
        <p:spPr>
          <a:xfrm>
            <a:off x="6355080" y="24231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validación externa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5"/>
          <p:cNvSpPr/>
          <p:nvPr/>
        </p:nvSpPr>
        <p:spPr>
          <a:xfrm>
            <a:off x="9098280" y="1188720"/>
            <a:ext cx="2742840" cy="155412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D69E2E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6"/>
          <p:cNvSpPr/>
          <p:nvPr/>
        </p:nvSpPr>
        <p:spPr>
          <a:xfrm>
            <a:off x="9235440" y="1280160"/>
            <a:ext cx="2468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D69E2E"/>
                </a:solidFill>
                <a:effectLst/>
                <a:uFillTx/>
                <a:latin typeface="Calibri"/>
                <a:ea typeface="Calibri"/>
              </a:rPr>
              <a:t>Tiempo / generaciones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7"/>
          <p:cNvSpPr/>
          <p:nvPr/>
        </p:nvSpPr>
        <p:spPr>
          <a:xfrm>
            <a:off x="9235440" y="16002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A202C"/>
                </a:solidFill>
                <a:effectLst/>
                <a:uFillTx/>
                <a:latin typeface="Cambria"/>
                <a:ea typeface="Cambria"/>
              </a:rPr>
              <a:t>7.5 min</a:t>
            </a:r>
            <a:endParaRPr lang="es-E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8"/>
          <p:cNvSpPr/>
          <p:nvPr/>
        </p:nvSpPr>
        <p:spPr>
          <a:xfrm>
            <a:off x="9235440" y="24231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300 generaciones en CPU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0" descr="C:\Users\alzug\OneDrive\Documentos\GitHub\AgusProyecto\farmApp-TCE\outputs\figures\sider_validation.png"/>
          <p:cNvPicPr/>
          <p:nvPr/>
        </p:nvPicPr>
        <p:blipFill>
          <a:blip r:embed="rId1"/>
          <a:stretch/>
        </p:blipFill>
        <p:spPr>
          <a:xfrm>
            <a:off x="457200" y="2971800"/>
            <a:ext cx="6857640" cy="338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Shape 19"/>
          <p:cNvSpPr/>
          <p:nvPr/>
        </p:nvSpPr>
        <p:spPr>
          <a:xfrm>
            <a:off x="7589520" y="2971800"/>
            <a:ext cx="4114440" cy="3382920"/>
          </a:xfrm>
          <a:prstGeom prst="roundRect">
            <a:avLst>
              <a:gd name="adj" fmla="val 2703"/>
            </a:avLst>
          </a:prstGeom>
          <a:solidFill>
            <a:srgbClr val="F0F5FA"/>
          </a:solidFill>
          <a:ln w="12700">
            <a:solidFill>
              <a:srgbClr val="F0F5FA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0"/>
          <p:cNvSpPr/>
          <p:nvPr/>
        </p:nvSpPr>
        <p:spPr>
          <a:xfrm>
            <a:off x="7818120" y="3108960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05AD5"/>
                </a:solidFill>
                <a:effectLst/>
                <a:uFillTx/>
                <a:latin typeface="Calibri"/>
                <a:ea typeface="Calibri"/>
              </a:rPr>
              <a:t>Extra: selección de features con cromosoma binario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1"/>
          <p:cNvSpPr/>
          <p:nvPr/>
        </p:nvSpPr>
        <p:spPr>
          <a:xfrm>
            <a:off x="7818120" y="3657600"/>
            <a:ext cx="365724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Otro genotipo, otro AG: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cromosoma binario {0,1}^154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operadores canónicos: bit-flip + cruce uniforme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805AD5"/>
                </a:solidFill>
                <a:effectLst/>
                <a:uFillTx/>
                <a:latin typeface="Calibri"/>
                <a:ea typeface="Calibri"/>
              </a:rPr>
              <a:t>Resultado: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el AG eligió 59 de 154 features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F1 mejoró 0.124 → 0.133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02C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 menos features y mejor desempeño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A202C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Cubre Módulo 2 y 3 (genotipo binario).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2"/>
          <p:cNvSpPr/>
          <p:nvPr/>
        </p:nvSpPr>
        <p:spPr>
          <a:xfrm>
            <a:off x="457200" y="6446520"/>
            <a:ext cx="11246760" cy="273960"/>
          </a:xfrm>
          <a:prstGeom prst="roundRect">
            <a:avLst>
              <a:gd name="adj" fmla="val 20000"/>
            </a:avLst>
          </a:prstGeom>
          <a:solidFill>
            <a:srgbClr val="1A2B4A"/>
          </a:solidFill>
          <a:ln w="12700">
            <a:solidFill>
              <a:srgbClr val="1A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3"/>
          <p:cNvSpPr/>
          <p:nvPr/>
        </p:nvSpPr>
        <p:spPr>
          <a:xfrm>
            <a:off x="640080" y="6446520"/>
            <a:ext cx="10881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El modelo predice efectos que ya están documentados por farmacólogos en una base independiente — el AG aprendió relaciones reales.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8503920" y="-1828800"/>
            <a:ext cx="5486040" cy="5486040"/>
          </a:xfrm>
          <a:prstGeom prst="ellipse">
            <a:avLst/>
          </a:prstGeom>
          <a:solidFill>
            <a:srgbClr val="E53E3E">
              <a:alpha val="12000"/>
            </a:srgbClr>
          </a:solidFill>
          <a:ln w="12700">
            <a:solidFill>
              <a:srgbClr val="E53E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640080" y="457200"/>
            <a:ext cx="10881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 de los 9 módulos del programa cubiertos</a:t>
            </a:r>
            <a:endParaRPr lang="es-E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640080" y="1051560"/>
            <a:ext cx="10881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en un mismo proyecto coherente y verificable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1" name="Table 0"/>
          <p:cNvGraphicFramePr/>
          <p:nvPr/>
        </p:nvGraphicFramePr>
        <p:xfrm>
          <a:off x="640080" y="1783080"/>
          <a:ext cx="10972440" cy="3071880"/>
        </p:xfrm>
        <a:graphic>
          <a:graphicData uri="http://schemas.openxmlformats.org/drawingml/2006/table">
            <a:tbl>
              <a:tblPr/>
              <a:tblGrid>
                <a:gridCol w="4114800"/>
                <a:gridCol w="6858000"/>
              </a:tblGrid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Módulo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E53E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Cómo se cubre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E53E3E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 — Algoritmos Genéticos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Bucle completo SGA + elitismo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 — Genotipos no binarios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Genotipo real (pesos) + binario (selección de features)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 — Selección, fitness, constraints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Torneo, F1-macro con umbral por etiqueta, exclusión de no-ADRs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 — Parameter tuning and control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σ determinístico + inmigrantes adaptativos + sweep de hiperparámetros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 — Performance metrics (single-obj)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Best/mean fitness, diversidad, presión de selección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 — Multi-objective EAs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NSGA-II para precisión vs recall (frente de Pareto)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9 — XAI + EC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Importancia de features derivada del individuo evolucionado</a:t>
                      </a:r>
                      <a:endParaRPr lang="es-E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C4A6B"/>
                      </a:solidFill>
                      <a:prstDash val="solid"/>
                    </a:lnL>
                    <a:lnR w="6480">
                      <a:solidFill>
                        <a:srgbClr val="3C4A6B"/>
                      </a:solidFill>
                      <a:prstDash val="solid"/>
                    </a:lnR>
                    <a:lnT w="6480">
                      <a:solidFill>
                        <a:srgbClr val="3C4A6B"/>
                      </a:solidFill>
                      <a:prstDash val="solid"/>
                    </a:lnT>
                    <a:lnB w="6480">
                      <a:solidFill>
                        <a:srgbClr val="3C4A6B"/>
                      </a:solidFill>
                      <a:prstDash val="solid"/>
                    </a:lnB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242" name="Shape 3"/>
          <p:cNvSpPr/>
          <p:nvPr/>
        </p:nvSpPr>
        <p:spPr>
          <a:xfrm>
            <a:off x="640080" y="5349240"/>
            <a:ext cx="10972440" cy="1188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4"/>
          <p:cNvSpPr/>
          <p:nvPr/>
        </p:nvSpPr>
        <p:spPr>
          <a:xfrm>
            <a:off x="868680" y="5440680"/>
            <a:ext cx="10515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1A2B4A"/>
                </a:solidFill>
                <a:effectLst/>
                <a:uFillTx/>
                <a:latin typeface="Cambria"/>
                <a:ea typeface="Cambria"/>
              </a:rPr>
              <a:t>Demostramos que un Algoritmo Genético puede entrenar un clasificador real multi-label sin gradiente, validado contra una base externa, con resultados reproducibles.</a:t>
            </a:r>
            <a:endParaRPr lang="es-E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640080" y="65836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¡Gracias!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</TotalTime>
  <Application>LibreOffice/26.2.4.2$Windows_X86_64 LibreOffice_project/0229ac93fcf0d7cbc6376066c6f35021cef002dc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2026-07-01T01:13:50Z</dcterms:created>
  <dc:creator>Alzugaray · Cabrera Tamalet</dc:creator>
  <dc:description/>
  <dc:language>es-ES</dc:language>
  <cp:lastModifiedBy/>
  <dcterms:modified xsi:type="dcterms:W3CDTF">2026-07-01T00:37:49Z</dcterms:modified>
  <cp:revision>2</cp:revision>
  <dc:subject>PptxGenJS Presentation</dc:subject>
  <dc:title>farmApp-TCE — Computación Evolutiva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16</vt:i4>
  </property>
  <property fmtid="{D5CDD505-2E9C-101B-9397-08002B2CF9AE}" pid="3" name="PresentationFormat">
    <vt:lpwstr>On-screen Show (16:9)</vt:lpwstr>
  </property>
  <property fmtid="{D5CDD505-2E9C-101B-9397-08002B2CF9AE}" pid="4" name="Slides">
    <vt:i4>16</vt:i4>
  </property>
</Properties>
</file>