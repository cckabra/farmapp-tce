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4572000" cy="4572000"/>
          </a:xfrm>
          <a:prstGeom prst="ellipse">
            <a:avLst/>
          </a:prstGeom>
          <a:solidFill>
            <a:srgbClr val="E53E3E">
              <a:alpha val="15000"/>
            </a:srgbClr>
          </a:solidFill>
          <a:ln w="12700">
            <a:solidFill>
              <a:srgbClr val="E53E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18320" y="4114800"/>
            <a:ext cx="4572000" cy="4572000"/>
          </a:xfrm>
          <a:prstGeom prst="ellipse">
            <a:avLst/>
          </a:prstGeom>
          <a:solidFill>
            <a:srgbClr val="2B6CB0">
              <a:alpha val="20000"/>
            </a:srgbClr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201168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Predicción de Efectos Adversos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914400" y="301752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Computación Evolutiva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532120" y="3931920"/>
            <a:ext cx="1097280" cy="36576"/>
          </a:xfrm>
          <a:prstGeom prst="rect">
            <a:avLst/>
          </a:prstGeom>
          <a:solidFill>
            <a:srgbClr val="E53E3E"/>
          </a:solidFill>
          <a:ln w="12700">
            <a:solidFill>
              <a:srgbClr val="E53E3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411480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Algoritmo Genético optimiza los pesos de una red neuronal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predecir efectos adversos de fármacos sin retropropagación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Alzugaray Agustín Ezequiel  ·  Lautaro Cabrera Tamalet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612648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Técnicas de Computación Evolutiva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53E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325880" y="27432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Descripción del problema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11247120" cy="18288"/>
          </a:xfrm>
          <a:prstGeom prst="rect">
            <a:avLst/>
          </a:prstGeom>
          <a:solidFill>
            <a:srgbClr val="CBD5E0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280160"/>
            <a:ext cx="11247120" cy="1188720"/>
          </a:xfrm>
          <a:prstGeom prst="roundRect">
            <a:avLst>
              <a:gd name="adj" fmla="val 7692"/>
            </a:avLst>
          </a:prstGeom>
          <a:solidFill>
            <a:srgbClr val="FFF5F5"/>
          </a:solidFill>
          <a:ln w="12700">
            <a:solidFill>
              <a:srgbClr val="FFF5F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371600"/>
            <a:ext cx="10881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rgbClr val="1A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Dado un paciente que toma un fármaco, ¿qué efectos adversos va a sufrir?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457200" y="2743200"/>
            <a:ext cx="5577840" cy="3657600"/>
          </a:xfrm>
          <a:prstGeom prst="roundRect">
            <a:avLst>
              <a:gd name="adj" fmla="val 2500"/>
            </a:avLst>
          </a:prstGeom>
          <a:solidFill>
            <a:srgbClr val="F0F5FA"/>
          </a:solidFill>
          <a:ln w="12700">
            <a:solidFill>
              <a:srgbClr val="F0F5F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288036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Características del problema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31520" y="347472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18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Multi-label</a:t>
            </a:r>
            <a:endParaRPr lang="en-US" sz="18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18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 efectos (MedDRA)</a:t>
            </a:r>
            <a:endParaRPr lang="en-US" sz="18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18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Desbalanceado (~2 % positivos)</a:t>
            </a:r>
            <a:endParaRPr lang="en-US" sz="18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18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 clínico ruidoso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126480" y="2743200"/>
            <a:ext cx="5577840" cy="3657600"/>
          </a:xfrm>
          <a:prstGeom prst="roundRect">
            <a:avLst>
              <a:gd name="adj" fmla="val 2500"/>
            </a:avLst>
          </a:prstGeom>
          <a:solidFill>
            <a:srgbClr val="F0F5FA"/>
          </a:solidFill>
          <a:ln w="12700">
            <a:solidFill>
              <a:srgbClr val="F0F5F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00800" y="288036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53E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es difícil y por qué importa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400800" y="347472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18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engaña → usamos F1-macro</a:t>
            </a:r>
            <a:endParaRPr lang="en-US" sz="18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18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Etiquetas con frecuencias dispares</a:t>
            </a:r>
            <a:endParaRPr lang="en-US" sz="18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18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Farmacovigilancia preventiva</a:t>
            </a:r>
            <a:endParaRPr lang="en-US" sz="18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18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 del paciente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53E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325880" y="27432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Datasets — qué usamos y para qué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11247120" cy="18288"/>
          </a:xfrm>
          <a:prstGeom prst="rect">
            <a:avLst/>
          </a:prstGeom>
          <a:solidFill>
            <a:srgbClr val="CBD5E0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280160"/>
            <a:ext cx="5577840" cy="2377440"/>
          </a:xfrm>
          <a:prstGeom prst="roundRect">
            <a:avLst>
              <a:gd name="adj" fmla="val 3846"/>
            </a:avLst>
          </a:prstGeom>
          <a:solidFill>
            <a:srgbClr val="F0F5FA"/>
          </a:solidFill>
          <a:ln w="12700">
            <a:solidFill>
              <a:srgbClr val="F0F5F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41732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FAERS (FDA)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31520" y="187452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Entrenamiento + test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2240280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A202C"/>
                </a:solidFill>
              </a:rPr>
              <a:t>Reportes reales de pacientes con efectos adversos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A202C"/>
                </a:solidFill>
              </a:rPr>
              <a:t>~55 000 casos · 5 trimestres (2025Q1 → 2026Q1)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A202C"/>
                </a:solidFill>
              </a:rPr>
              <a:t>4 archivos por trimestre: DEMO + DRUG + REAC + INDI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126480" y="1280160"/>
            <a:ext cx="5577840" cy="2377440"/>
          </a:xfrm>
          <a:prstGeom prst="roundRect">
            <a:avLst>
              <a:gd name="adj" fmla="val 3846"/>
            </a:avLst>
          </a:prstGeom>
          <a:solidFill>
            <a:srgbClr val="F0F5FA"/>
          </a:solidFill>
          <a:ln w="12700">
            <a:solidFill>
              <a:srgbClr val="F0F5F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0" y="141732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53E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SIDER 4.1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400800" y="18745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externa (después del entrenamiento)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0" y="2240280"/>
            <a:ext cx="52120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A202C"/>
                </a:solidFill>
              </a:rPr>
              <a:t>Base curada por farmacólogos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A202C"/>
                </a:solidFill>
              </a:rPr>
              <a:t>Para cada fármaco, sus efectos adversos conocidos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A202C"/>
                </a:solidFill>
              </a:rPr>
              <a:t>Independiente de FAERS — sirve como prueba externa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840480"/>
            <a:ext cx="11247120" cy="2651760"/>
          </a:xfrm>
          <a:prstGeom prst="roundRect">
            <a:avLst>
              <a:gd name="adj" fmla="val 3448"/>
            </a:avLst>
          </a:prstGeom>
          <a:solidFill>
            <a:srgbClr val="F0F5FA"/>
          </a:solidFill>
          <a:ln w="12700">
            <a:solidFill>
              <a:srgbClr val="F0F5F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39776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FAERS sacamos X e Y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731520" y="4526280"/>
            <a:ext cx="530352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9050">
            <a:solidFill>
              <a:srgbClr val="2B6CB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46177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entrada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14400" y="4983480"/>
            <a:ext cx="49377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del paciente: fármaco · indicación · otras medicaciones · edad · sexo · peso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126480" y="4526280"/>
            <a:ext cx="55778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9050">
            <a:solidFill>
              <a:srgbClr val="E53E3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0" y="46177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53E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lo que queremos predecir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309360" y="4983480"/>
            <a:ext cx="52120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binario de 98 columnas: ¿tuvo Nausea? ¿Anxiety? ¿Headache? ...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53E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325880" y="27432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— cómo funciona el sistema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11247120" cy="18288"/>
          </a:xfrm>
          <a:prstGeom prst="rect">
            <a:avLst/>
          </a:prstGeom>
          <a:solidFill>
            <a:srgbClr val="CBD5E0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234440"/>
            <a:ext cx="54864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25400">
            <a:solidFill>
              <a:srgbClr val="2B6CB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394460"/>
            <a:ext cx="457200" cy="457200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3944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325880" y="128016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FAERS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325880" y="1618488"/>
            <a:ext cx="4709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fila por paciente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19272" y="2016252"/>
            <a:ext cx="128016" cy="109728"/>
          </a:xfrm>
          <a:prstGeom prst="downArrow">
            <a:avLst/>
          </a:prstGeom>
          <a:solidFill>
            <a:srgbClr val="4A5568"/>
          </a:solidFill>
          <a:ln w="12700">
            <a:solidFill>
              <a:srgbClr val="4A556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130552"/>
            <a:ext cx="54864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25400">
            <a:solidFill>
              <a:srgbClr val="2B6CB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7240" y="2290572"/>
            <a:ext cx="457200" cy="457200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2905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325880" y="2176272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Featurizer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325880" y="2514600"/>
            <a:ext cx="4709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X de 228 números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319272" y="2912364"/>
            <a:ext cx="128016" cy="109728"/>
          </a:xfrm>
          <a:prstGeom prst="downArrow">
            <a:avLst/>
          </a:prstGeom>
          <a:solidFill>
            <a:srgbClr val="4A5568"/>
          </a:solidFill>
          <a:ln w="12700">
            <a:solidFill>
              <a:srgbClr val="4A556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3026664"/>
            <a:ext cx="54864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25400">
            <a:solidFill>
              <a:srgbClr val="1A2B4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7240" y="3186684"/>
            <a:ext cx="457200" cy="457200"/>
          </a:xfrm>
          <a:prstGeom prst="ellipse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31866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325880" y="3072384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neuronal 228 → 24 → 98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325880" y="3410712"/>
            <a:ext cx="4709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predice Ŷ (probabilidades)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319272" y="3808476"/>
            <a:ext cx="128016" cy="109728"/>
          </a:xfrm>
          <a:prstGeom prst="downArrow">
            <a:avLst/>
          </a:prstGeom>
          <a:solidFill>
            <a:srgbClr val="4A5568"/>
          </a:solidFill>
          <a:ln w="12700">
            <a:solidFill>
              <a:srgbClr val="4A556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0080" y="3922776"/>
            <a:ext cx="54864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25400">
            <a:solidFill>
              <a:srgbClr val="D69E2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77240" y="4082796"/>
            <a:ext cx="457200" cy="457200"/>
          </a:xfrm>
          <a:prstGeom prst="ellipse">
            <a:avLst/>
          </a:prstGeom>
          <a:solidFill>
            <a:srgbClr val="D69E2E"/>
          </a:solidFill>
          <a:ln w="12700">
            <a:solidFill>
              <a:srgbClr val="D69E2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40827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325880" y="3968496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Fitness = F1-macro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325880" y="4306824"/>
            <a:ext cx="4709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 Ŷ con Y real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319272" y="4704588"/>
            <a:ext cx="128016" cy="109728"/>
          </a:xfrm>
          <a:prstGeom prst="downArrow">
            <a:avLst/>
          </a:prstGeom>
          <a:solidFill>
            <a:srgbClr val="4A5568"/>
          </a:solidFill>
          <a:ln w="12700">
            <a:solidFill>
              <a:srgbClr val="4A556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" y="4818888"/>
            <a:ext cx="54864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25400">
            <a:solidFill>
              <a:srgbClr val="E53E3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7240" y="4978908"/>
            <a:ext cx="457200" cy="457200"/>
          </a:xfrm>
          <a:prstGeom prst="ellipse">
            <a:avLst/>
          </a:prstGeom>
          <a:solidFill>
            <a:srgbClr val="E53E3E"/>
          </a:solidFill>
          <a:ln w="12700">
            <a:solidFill>
              <a:srgbClr val="E53E3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7240" y="49789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1325880" y="4864608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 Genético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325880" y="5202936"/>
            <a:ext cx="4709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ajusta los 7 946 pesos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319272" y="5600700"/>
            <a:ext cx="128016" cy="109728"/>
          </a:xfrm>
          <a:prstGeom prst="downArrow">
            <a:avLst/>
          </a:prstGeom>
          <a:solidFill>
            <a:srgbClr val="4A5568"/>
          </a:solidFill>
          <a:ln w="12700">
            <a:solidFill>
              <a:srgbClr val="4A556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40080" y="5715000"/>
            <a:ext cx="54864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25400">
            <a:solidFill>
              <a:srgbClr val="38A1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77240" y="5875020"/>
            <a:ext cx="457200" cy="457200"/>
          </a:xfrm>
          <a:prstGeom prst="ellipse">
            <a:avLst/>
          </a:prstGeom>
          <a:solidFill>
            <a:srgbClr val="38A169"/>
          </a:solidFill>
          <a:ln w="12700">
            <a:solidFill>
              <a:srgbClr val="38A16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77240" y="58750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1325880" y="576072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con SIDER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1325880" y="6099048"/>
            <a:ext cx="4709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verificación externa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1234440"/>
            <a:ext cx="5212080" cy="1554480"/>
          </a:xfrm>
          <a:prstGeom prst="roundRect">
            <a:avLst>
              <a:gd name="adj" fmla="val 5882"/>
            </a:avLst>
          </a:prstGeom>
          <a:solidFill>
            <a:srgbClr val="FFF5F5"/>
          </a:solidFill>
          <a:ln w="12700">
            <a:solidFill>
              <a:srgbClr val="FFF5F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6675120" y="132588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53E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GENOTIPO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6675120" y="164592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real de 7 946 pesos (no binario, Módulo 3)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6675120" y="2057400"/>
            <a:ext cx="50292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[W1 (228×24) | b1 (24) | W2 (24×98) | b2 (98)]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492240" y="2971800"/>
            <a:ext cx="5212080" cy="1554480"/>
          </a:xfrm>
          <a:prstGeom prst="roundRect">
            <a:avLst>
              <a:gd name="adj" fmla="val 5882"/>
            </a:avLst>
          </a:prstGeom>
          <a:solidFill>
            <a:srgbClr val="F0F5FA"/>
          </a:solidFill>
          <a:ln w="12700">
            <a:solidFill>
              <a:srgbClr val="F0F5F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6675120" y="30632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FENOTIPO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6675120" y="33832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neuronal de 1 capa oculta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6675120" y="3794760"/>
            <a:ext cx="50292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228  →  ReLU(24)  →  sigmoide(98)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6492240" y="5029200"/>
            <a:ext cx="5212080" cy="1554480"/>
          </a:xfrm>
          <a:prstGeom prst="roundRect">
            <a:avLst>
              <a:gd name="adj" fmla="val 5882"/>
            </a:avLst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675120" y="51206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53E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Frase clave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6675120" y="5440680"/>
            <a:ext cx="5029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Cromosoma = pesos de la red.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 en vez de retropropagación.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53E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325880" y="27432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Representación — genotipo y fenotipo (Módulo 3)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11247120" cy="18288"/>
          </a:xfrm>
          <a:prstGeom prst="rect">
            <a:avLst/>
          </a:prstGeom>
          <a:solidFill>
            <a:srgbClr val="CBD5E0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515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decisión más importante del AG: cómo codificar el problema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463040"/>
            <a:ext cx="5669280" cy="5029200"/>
          </a:xfrm>
          <a:prstGeom prst="roundRect">
            <a:avLst>
              <a:gd name="adj" fmla="val 1818"/>
            </a:avLst>
          </a:prstGeom>
          <a:solidFill>
            <a:srgbClr val="FFF5F5"/>
          </a:solidFill>
          <a:ln w="12700">
            <a:solidFill>
              <a:srgbClr val="FFF5F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6002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53E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GENOTIPO — representación real no binaria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201168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W1 (228×24)  |  b1 (24)  |  W2 (24×98)  |  b2 (98) 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246888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7 946 números reales por individuo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3108960"/>
            <a:ext cx="53035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Real, no binario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Localidad: gen ≡ un peso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Cruce uniforme + mutación gaussiana (operadores para reales)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309360" y="1463040"/>
            <a:ext cx="5394960" cy="5029200"/>
          </a:xfrm>
          <a:prstGeom prst="roundRect">
            <a:avLst>
              <a:gd name="adj" fmla="val 1818"/>
            </a:avLst>
          </a:prstGeom>
          <a:solidFill>
            <a:srgbClr val="F0F5FA"/>
          </a:solidFill>
          <a:ln w="12700">
            <a:solidFill>
              <a:srgbClr val="F0F5F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92240" y="16002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FENOTIPO — red neuronal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583680" y="2194560"/>
            <a:ext cx="14630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2B6CB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0" y="22860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Entrada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83680" y="26517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228 features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46720" y="2560320"/>
            <a:ext cx="228600" cy="182880"/>
          </a:xfrm>
          <a:prstGeom prst="rightArrow">
            <a:avLst/>
          </a:prstGeom>
          <a:solidFill>
            <a:srgbClr val="4A5568"/>
          </a:solidFill>
          <a:ln w="12700">
            <a:solidFill>
              <a:srgbClr val="4A556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75320" y="2194560"/>
            <a:ext cx="14630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1A2B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75320" y="22860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Oculta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275320" y="26517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neuronas ReLU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9738360" y="2560320"/>
            <a:ext cx="228600" cy="182880"/>
          </a:xfrm>
          <a:prstGeom prst="rightArrow">
            <a:avLst/>
          </a:prstGeom>
          <a:solidFill>
            <a:srgbClr val="4A5568"/>
          </a:solidFill>
          <a:ln w="12700">
            <a:solidFill>
              <a:srgbClr val="4A556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966960" y="2194560"/>
            <a:ext cx="14630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E53E3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966960" y="22860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53E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Salida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966960" y="26517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 sigmoides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92240" y="35661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capa oculta ReLU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 salidas sigmoides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set_genome(cromosoma) → W1, b1, W2, b2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53E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325880" y="27432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Operadores evolutivos (Módulos 2 y 4)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11247120" cy="18288"/>
          </a:xfrm>
          <a:prstGeom prst="rect">
            <a:avLst/>
          </a:prstGeom>
          <a:solidFill>
            <a:srgbClr val="CBD5E0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515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el AG transforma una generación en la siguiente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463040"/>
            <a:ext cx="5577840" cy="2468880"/>
          </a:xfrm>
          <a:prstGeom prst="roundRect">
            <a:avLst>
              <a:gd name="adj" fmla="val 3704"/>
            </a:avLst>
          </a:prstGeom>
          <a:solidFill>
            <a:srgbClr val="F0F5FA"/>
          </a:solidFill>
          <a:ln w="12700">
            <a:solidFill>
              <a:srgbClr val="F0F5F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60020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Selección por RANK lineal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572000" y="16002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4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01168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6C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= 1.7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2423160"/>
            <a:ext cx="52120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Probabilidad por posición en el ranking. Presión selectiva constante, independiente de la escala del fitness.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309360" y="1463040"/>
            <a:ext cx="5577840" cy="2468880"/>
          </a:xfrm>
          <a:prstGeom prst="roundRect">
            <a:avLst>
              <a:gd name="adj" fmla="val 3704"/>
            </a:avLst>
          </a:prstGeom>
          <a:solidFill>
            <a:srgbClr val="F0F5FA"/>
          </a:solidFill>
          <a:ln w="12700">
            <a:solidFill>
              <a:srgbClr val="F0F5F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92240" y="160020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8A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Cruce uniforme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424160" y="16002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92240" y="201168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8A1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p_crossover = 0.9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92240" y="2423160"/>
            <a:ext cx="52120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gen se hereda de A o B con prob. 0.5. Recombina building blocks.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4069080"/>
            <a:ext cx="5577840" cy="2468880"/>
          </a:xfrm>
          <a:prstGeom prst="roundRect">
            <a:avLst>
              <a:gd name="adj" fmla="val 3704"/>
            </a:avLst>
          </a:prstGeom>
          <a:solidFill>
            <a:srgbClr val="F0F5FA"/>
          </a:solidFill>
          <a:ln w="12700">
            <a:solidFill>
              <a:srgbClr val="F0F5F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40080" y="42062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69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Mutación gaussiana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572000" y="420624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2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" y="46177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69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p_mutation = 0.04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0080" y="5029200"/>
            <a:ext cx="52120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Ruido N(0, σ) sobre cada gen. Reinyecta variación.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309360" y="4069080"/>
            <a:ext cx="5577840" cy="2468880"/>
          </a:xfrm>
          <a:prstGeom prst="roundRect">
            <a:avLst>
              <a:gd name="adj" fmla="val 3704"/>
            </a:avLst>
          </a:prstGeom>
          <a:solidFill>
            <a:srgbClr val="F0F5FA"/>
          </a:solidFill>
          <a:ln w="12700">
            <a:solidFill>
              <a:srgbClr val="F0F5F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492240" y="42062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53E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Elitismo + adaptativo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10424160" y="420624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2/5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92240" y="46177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3E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elitism = 2, immigrants = 8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492240" y="5029200"/>
            <a:ext cx="52120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2 mejores pasan intactos. Si diversidad &lt; 0.09: inmigrantes + σ ×3.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53E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325880" y="27432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evolucionó el fitness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11247120" cy="18288"/>
          </a:xfrm>
          <a:prstGeom prst="rect">
            <a:avLst/>
          </a:prstGeom>
          <a:solidFill>
            <a:srgbClr val="CBD5E0"/>
          </a:solidFill>
          <a:ln w="12700">
            <a:solidFill>
              <a:srgbClr val="CBD5E0"/>
            </a:solidFill>
            <a:prstDash val="solid"/>
          </a:ln>
        </p:spPr>
      </p:sp>
      <p:pic>
        <p:nvPicPr>
          <p:cNvPr id="5" name="Image 0" descr="C:\Users\alzug\OneDrive\Documentos\GitHub\AgusProyecto\farmApp-TCE\outputs\figures\ga_convergenc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234440"/>
            <a:ext cx="11430000" cy="48463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617220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617220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Fitness  ·  Diversidad genotípica  ·  Presión selectiva     —     3 métricas independientes (Módulos 4, 5, 6)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53E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325880" y="27432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 de parada — ¿cuántas generaciones bastan?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11247120" cy="18288"/>
          </a:xfrm>
          <a:prstGeom prst="rect">
            <a:avLst/>
          </a:prstGeom>
          <a:solidFill>
            <a:srgbClr val="CBD5E0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515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Corrimos 3 experimentos con 120, 300 y 500 generaciones para encontrar el punto óptimo de parada.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112471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377440"/>
                <a:gridCol w="2194560"/>
                <a:gridCol w="2194560"/>
                <a:gridCol w="22860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Generaciones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4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Fitness final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4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 test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4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Tiempo CPU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4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Tasa mejora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4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 min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0.00096/gen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8A1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  ★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F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38A1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F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38A1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F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38A1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7.15 min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F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38A1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0.00013/gen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F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 min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−0.00001/gen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3657600"/>
            <a:ext cx="5577840" cy="2743200"/>
          </a:xfrm>
          <a:prstGeom prst="roundRect">
            <a:avLst>
              <a:gd name="adj" fmla="val 3333"/>
            </a:avLst>
          </a:prstGeom>
          <a:solidFill>
            <a:srgbClr val="F0FFF4"/>
          </a:solidFill>
          <a:ln w="12700">
            <a:solidFill>
              <a:srgbClr val="F0FFF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40080" y="3794760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A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 Hallazgo 1: rendimiento marginal decreciente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40080" y="4251960"/>
            <a:ext cx="52120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A202C"/>
                </a:solidFill>
              </a:rPr>
              <a:t>La tasa de mejora cae 7× entre 0→120 y 120→300 gens.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A202C"/>
                </a:solidFill>
              </a:rPr>
              <a:t> 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A202C"/>
                </a:solidFill>
              </a:rPr>
              <a:t>120 → 300 gen: mejora útil (F1 +0.014).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A202C"/>
                </a:solidFill>
              </a:rPr>
              <a:t>300 → 500 gen: sin ganancia (tasa se vuelve negativa).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126480" y="3657600"/>
            <a:ext cx="5577840" cy="2743200"/>
          </a:xfrm>
          <a:prstGeom prst="roundRect">
            <a:avLst>
              <a:gd name="adj" fmla="val 3333"/>
            </a:avLst>
          </a:prstGeom>
          <a:solidFill>
            <a:srgbClr val="FFF5F5"/>
          </a:solidFill>
          <a:ln w="12700">
            <a:solidFill>
              <a:srgbClr val="FFF5F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309360" y="3794760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53E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Hallazgo 2: 500 gen retrocede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309360" y="4251960"/>
            <a:ext cx="52120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A202C"/>
                </a:solidFill>
              </a:rPr>
              <a:t>En 500 gen, el fitness cae ligeramente (0.138 → 0.136)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A202C"/>
                </a:solidFill>
              </a:rPr>
              <a:t>y el F1 de test también baja (0.106 → 0.100).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A202C"/>
                </a:solidFill>
              </a:rPr>
              <a:t> 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A202C"/>
                </a:solidFill>
              </a:rPr>
              <a:t>Explicación: el σ adaptativo se agota + inmigrantes al final introducen ruido que ya no rescata mejores individuos.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A202C"/>
                </a:solidFill>
              </a:rPr>
              <a:t> 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38A169"/>
                </a:solidFill>
              </a:rPr>
              <a:t>300 generaciones = mejor F1 con menor tiempo.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53E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325880" y="27432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 del AG en el sistema (ablación)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11247120" cy="18288"/>
          </a:xfrm>
          <a:prstGeom prst="rect">
            <a:avLst/>
          </a:prstGeom>
          <a:solidFill>
            <a:srgbClr val="CBD5E0"/>
          </a:solidFill>
          <a:ln w="12700">
            <a:solidFill>
              <a:srgbClr val="CBD5E0"/>
            </a:solidFill>
            <a:prstDash val="solid"/>
          </a:ln>
        </p:spPr>
      </p:sp>
      <p:pic>
        <p:nvPicPr>
          <p:cNvPr id="5" name="Image 0" descr="C:\Users\alzug\OneDrive\Documentos\GitHub\AgusProyecto\farmApp-TCE\outputs\figures\abla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188720"/>
            <a:ext cx="7772400" cy="4480560"/>
          </a:xfrm>
          <a:prstGeom prst="rect">
            <a:avLst/>
          </a:prstGeom>
        </p:spPr>
      </p:pic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21040" y="1737360"/>
          <a:ext cx="34747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822960"/>
                <a:gridCol w="82296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Configuración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4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Fitness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4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 test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4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search (sin AG)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Solo mutación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Solo cruce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elitismo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53E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 COMPLETO (este proyecto)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E53E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E53E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57607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Nota: en este ablation reducido (40 ind × 50 gen, sin inmigrantes), "sin elitismo" (0.075) supera al AG completo (0.065). En el run real (80 × 300 con inmigrantes) el elitismo sí aporta — el elitismo alto sobre población chica concentra demasiado.</a:t>
            </a:r>
            <a:endParaRPr lang="en-US" sz="1100" dirty="0"/>
          </a:p>
        </p:txBody>
      </p:sp>
      <p:sp>
        <p:nvSpPr>
          <p:cNvPr id="8" name="Shape 4"/>
          <p:cNvSpPr/>
          <p:nvPr/>
        </p:nvSpPr>
        <p:spPr>
          <a:xfrm>
            <a:off x="457200" y="6309360"/>
            <a:ext cx="11247120" cy="457200"/>
          </a:xfrm>
          <a:prstGeom prst="roundRect">
            <a:avLst>
              <a:gd name="adj" fmla="val 16000"/>
            </a:avLst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40080" y="630936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Random search → AG completo: F1 +27 %.  ·  Cruce es el operador primario (Goldberg, Módulo 2).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53E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9a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325880" y="27432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Experimento — probabilidad de mutación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11247120" cy="18288"/>
          </a:xfrm>
          <a:prstGeom prst="rect">
            <a:avLst/>
          </a:prstGeom>
          <a:solidFill>
            <a:srgbClr val="CBD5E0"/>
          </a:solidFill>
          <a:ln w="12700">
            <a:solidFill>
              <a:srgbClr val="CBD5E0"/>
            </a:solidFill>
            <a:prstDash val="solid"/>
          </a:ln>
        </p:spPr>
      </p:sp>
      <p:pic>
        <p:nvPicPr>
          <p:cNvPr id="5" name="Image 0" descr="C:\Users\alzug\OneDrive\Documentos\GitHub\AgusProyecto\farmApp-TCE\outputs\figures\exp_muta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188720"/>
            <a:ext cx="7772400" cy="4937760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21040" y="1737360"/>
          <a:ext cx="347472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097280"/>
                <a:gridCol w="109728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p_mutation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4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Fitness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4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 test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4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53E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  ★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E53E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E53E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6263640"/>
            <a:ext cx="11247120" cy="457200"/>
          </a:xfrm>
          <a:prstGeom prst="roundRect">
            <a:avLst>
              <a:gd name="adj" fmla="val 16000"/>
            </a:avLst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40080" y="62636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 invertida — óptimo en p_mut ≈ 0.05–0.10.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53E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9b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325880" y="27432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Experimento — probabilidad de cruce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11247120" cy="18288"/>
          </a:xfrm>
          <a:prstGeom prst="rect">
            <a:avLst/>
          </a:prstGeom>
          <a:solidFill>
            <a:srgbClr val="CBD5E0"/>
          </a:solidFill>
          <a:ln w="12700">
            <a:solidFill>
              <a:srgbClr val="CBD5E0"/>
            </a:solidFill>
            <a:prstDash val="solid"/>
          </a:ln>
        </p:spPr>
      </p:sp>
      <p:pic>
        <p:nvPicPr>
          <p:cNvPr id="5" name="Image 0" descr="C:\Users\alzug\OneDrive\Documentos\GitHub\AgusProyecto\farmApp-TCE\outputs\figures\exp_crossover_prob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188720"/>
            <a:ext cx="7772400" cy="4937760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21040" y="1737360"/>
          <a:ext cx="347472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097280"/>
                <a:gridCol w="109728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p_crossover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4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Fitness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4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 test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4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53E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  ★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E53E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E53E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6263640"/>
            <a:ext cx="11247120" cy="457200"/>
          </a:xfrm>
          <a:prstGeom prst="roundRect">
            <a:avLst>
              <a:gd name="adj" fmla="val 16000"/>
            </a:avLst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40080" y="62636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Monótono creciente — cuanta más recombinación, mejor.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53E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9c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325880" y="27432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Experimento — operador de cruce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11247120" cy="18288"/>
          </a:xfrm>
          <a:prstGeom prst="rect">
            <a:avLst/>
          </a:prstGeom>
          <a:solidFill>
            <a:srgbClr val="CBD5E0"/>
          </a:solidFill>
          <a:ln w="12700">
            <a:solidFill>
              <a:srgbClr val="CBD5E0"/>
            </a:solidFill>
            <a:prstDash val="solid"/>
          </a:ln>
        </p:spPr>
      </p:sp>
      <p:pic>
        <p:nvPicPr>
          <p:cNvPr id="5" name="Image 0" descr="C:\Users\alzug\OneDrive\Documentos\GitHub\AgusProyecto\farmApp-TCE\outputs\figures\exp_crossover_kin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188720"/>
            <a:ext cx="7772400" cy="4937760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21040" y="1737360"/>
          <a:ext cx="347472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097280"/>
                <a:gridCol w="109728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Operador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4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Fitness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4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 test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4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53E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uniform  ★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E53E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E53E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one_point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arithmetic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6263640"/>
            <a:ext cx="11247120" cy="457200"/>
          </a:xfrm>
          <a:prstGeom prst="roundRect">
            <a:avLst>
              <a:gd name="adj" fmla="val 16000"/>
            </a:avLst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40080" y="62636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Uniforme gana en alta dimensión (7 946 dims).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53E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325880" y="27432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Multi-objetivo: NSGA-II (Módulo 7)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11247120" cy="18288"/>
          </a:xfrm>
          <a:prstGeom prst="rect">
            <a:avLst/>
          </a:prstGeom>
          <a:solidFill>
            <a:srgbClr val="CBD5E0"/>
          </a:solidFill>
          <a:ln w="12700">
            <a:solidFill>
              <a:srgbClr val="CBD5E0"/>
            </a:solidFill>
            <a:prstDash val="solid"/>
          </a:ln>
        </p:spPr>
      </p:sp>
      <p:pic>
        <p:nvPicPr>
          <p:cNvPr id="5" name="Image 0" descr="C:\Users\alzug\OneDrive\Documentos\GitHub\AgusProyecto\farmApp-TCE\outputs\figures\nsga2_pareto_fron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234440"/>
            <a:ext cx="11430000" cy="4480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580644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Nota: precision/recall crudos, sin optimización de umbral por etiqueta — por eso los valores absolutos son inferiores al modelo mono-objetivo (slide 12).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57200" y="6263640"/>
            <a:ext cx="11247120" cy="457200"/>
          </a:xfrm>
          <a:prstGeom prst="roundRect">
            <a:avLst>
              <a:gd name="adj" fmla="val 16000"/>
            </a:avLst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62636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Precisión vs recall  ·  frente de Pareto  ·  non-dominated sort + crowding distance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53E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325880" y="27432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XAI — explicabilidad del individuo (Módulo 9)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11247120" cy="18288"/>
          </a:xfrm>
          <a:prstGeom prst="rect">
            <a:avLst/>
          </a:prstGeom>
          <a:solidFill>
            <a:srgbClr val="CBD5E0"/>
          </a:solidFill>
          <a:ln w="12700">
            <a:solidFill>
              <a:srgbClr val="CBD5E0"/>
            </a:solidFill>
            <a:prstDash val="solid"/>
          </a:ln>
        </p:spPr>
      </p:sp>
      <p:pic>
        <p:nvPicPr>
          <p:cNvPr id="5" name="Image 0" descr="C:\Users\alzug\OneDrive\Documentos\GitHub\AgusProyecto\farmApp-TCE\outputs\figures\ga_feature_importanc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234440"/>
            <a:ext cx="11430000" cy="48463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617220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617220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Importancia por feature = | W1 | · | W2 |     —     el individuo evolucionado no es caja negra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53E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325880" y="27432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finales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11247120" cy="18288"/>
          </a:xfrm>
          <a:prstGeom prst="rect">
            <a:avLst/>
          </a:prstGeom>
          <a:solidFill>
            <a:srgbClr val="CBD5E0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188720"/>
            <a:ext cx="274320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25400">
            <a:solidFill>
              <a:srgbClr val="E53E3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8016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E53E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F1-macro test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160020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A20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0.106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594360" y="24231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evolucionado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37560" y="1188720"/>
            <a:ext cx="274320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25400">
            <a:solidFill>
              <a:srgbClr val="2B6CB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474720" y="128016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macro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474720" y="160020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A20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0.111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3474720" y="24231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individuo ganador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217920" y="1188720"/>
            <a:ext cx="274320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25400">
            <a:solidFill>
              <a:srgbClr val="38A16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355080" y="128016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38A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vs SIDER 4.1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55080" y="160020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A20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0.306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6355080" y="24231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externa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098280" y="1188720"/>
            <a:ext cx="274320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25400">
            <a:solidFill>
              <a:srgbClr val="D69E2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235440" y="128016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D69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 / generaciones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235440" y="160020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A20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7.15 min</a:t>
            </a:r>
            <a:endParaRPr lang="en-US" sz="3800" dirty="0"/>
          </a:p>
        </p:txBody>
      </p:sp>
      <p:sp>
        <p:nvSpPr>
          <p:cNvPr id="20" name="Text 18"/>
          <p:cNvSpPr/>
          <p:nvPr/>
        </p:nvSpPr>
        <p:spPr>
          <a:xfrm>
            <a:off x="9235440" y="24231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generaciones en CPU</a:t>
            </a:r>
            <a:endParaRPr lang="en-US" sz="1000" dirty="0"/>
          </a:p>
        </p:txBody>
      </p:sp>
      <p:pic>
        <p:nvPicPr>
          <p:cNvPr id="21" name="Image 0" descr="C:\Users\alzug\OneDrive\Documentos\GitHub\AgusProyecto\farmApp-TCE\outputs\figures\sider_valida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2880360"/>
            <a:ext cx="11430000" cy="3200400"/>
          </a:xfrm>
          <a:prstGeom prst="rect">
            <a:avLst/>
          </a:prstGeom>
        </p:spPr>
      </p:pic>
      <p:sp>
        <p:nvSpPr>
          <p:cNvPr id="22" name="Shape 19"/>
          <p:cNvSpPr/>
          <p:nvPr/>
        </p:nvSpPr>
        <p:spPr>
          <a:xfrm>
            <a:off x="457200" y="617220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0080" y="617220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Validación externa con SIDER: el AG aprendió relaciones documentadas por farmacólogos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-1828800"/>
            <a:ext cx="5486400" cy="5486400"/>
          </a:xfrm>
          <a:prstGeom prst="ellipse">
            <a:avLst/>
          </a:prstGeom>
          <a:solidFill>
            <a:srgbClr val="E53E3E">
              <a:alpha val="12000"/>
            </a:srgbClr>
          </a:solidFill>
          <a:ln w="12700">
            <a:solidFill>
              <a:srgbClr val="E53E3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de los 9 módulos del programa cubiertos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un mismo proyecto coherente y verificable</a:t>
            </a:r>
            <a:endParaRPr lang="en-US" sz="1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68580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Módulo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3E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Cómo se cubre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3E3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— Algoritmos Genéticos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Bucle completo SGA + elitismo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— Genotipos no binarios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Genotipo real (pesos) + binario (selección de features)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— Selección, fitness, constraints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Torneo, F1-macro con umbral por etiqueta, exclusión de no-ADRs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— Parameter tuning and control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σ determinístico + inmigrantes adaptativos + sweep de hiperparámetros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— Performance metrics (single-obj)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Best/mean fitness, diversidad, presión de selección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— Multi-objective EAs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NSGA-II para precisión vs recall (frente de Pareto)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 — XAI + EC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Importancia de features derivada del individuo evolucionado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349240"/>
            <a:ext cx="1097280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68680" y="544068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A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Demostramos que un Algoritmo Genético puede entrenar un clasificador real multi-label sin gradiente, validado contra una base externa, con resultados reproducibles.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40080" y="65836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¡Gracias!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farmApp-TCE — Computación Evolutiva</dc:title>
  <dc:subject>PptxGenJS Presentation</dc:subject>
  <dc:creator>Alzugaray · Cabrera Tamalet</dc:creator>
  <cp:lastModifiedBy>Alzugaray · Cabrera Tamalet</cp:lastModifiedBy>
  <cp:revision>1</cp:revision>
  <dcterms:created xsi:type="dcterms:W3CDTF">2026-07-02T04:24:03Z</dcterms:created>
  <dcterms:modified xsi:type="dcterms:W3CDTF">2026-07-02T04:24:03Z</dcterms:modified>
</cp:coreProperties>
</file>